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</p:sldIdLst>
  <p:sldSz cx="9144000" cy="5143500" type="screen16x9"/>
  <p:notesSz cx="6858000" cy="9144000"/>
  <p:embeddedFontLst>
    <p:embeddedFont>
      <p:font typeface="Fira Sans Condensed" panose="020B0503050000020004" pitchFamily="34" charset="0"/>
      <p:regular r:id="rId13"/>
      <p:bold r:id="rId14"/>
      <p:italic r:id="rId15"/>
      <p:boldItalic r:id="rId16"/>
    </p:embeddedFont>
    <p:embeddedFont>
      <p:font typeface="Fira Sans Condensed Light" panose="020B0403050000020004" pitchFamily="34" charset="0"/>
      <p:regular r:id="rId17"/>
      <p:bold r:id="rId18"/>
      <p:italic r:id="rId19"/>
      <p:boldItalic r:id="rId20"/>
    </p:embeddedFont>
    <p:embeddedFont>
      <p:font typeface="Rajdhani" panose="02000000000000000000" pitchFamily="2" charset="77"/>
      <p:regular r:id="rId21"/>
      <p:bold r:id="rId22"/>
    </p:embeddedFont>
    <p:embeddedFont>
      <p:font typeface="Roboto Condensed Light" panose="0200000000000000000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2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8BFA64-6AF0-FF46-B83F-5C5649444C71}" v="9" dt="2026-06-23T13:28:15.548"/>
  </p1510:revLst>
</p1510:revInfo>
</file>

<file path=ppt/tableStyles.xml><?xml version="1.0" encoding="utf-8"?>
<a:tblStyleLst xmlns:a="http://schemas.openxmlformats.org/drawingml/2006/main" def="{08D181C4-1DBE-420C-9645-165F3A0B4C6F}">
  <a:tblStyle styleId="{08D181C4-1DBE-420C-9645-165F3A0B4C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10"/>
    <p:restoredTop sz="93750"/>
  </p:normalViewPr>
  <p:slideViewPr>
    <p:cSldViewPr snapToGrid="0">
      <p:cViewPr>
        <p:scale>
          <a:sx n="140" d="100"/>
          <a:sy n="140" d="100"/>
        </p:scale>
        <p:origin x="144" y="-624"/>
      </p:cViewPr>
      <p:guideLst>
        <p:guide orient="horz" pos="62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0443AA-2E32-465F-9FA4-FAF9EABC10A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30EFF4A-2AF5-435D-B319-6F611752A07E}">
      <dgm:prSet/>
      <dgm:spPr/>
      <dgm:t>
        <a:bodyPr/>
        <a:lstStyle/>
        <a:p>
          <a:r>
            <a:rPr lang="en-US"/>
            <a:t>More human annotation for edge cases</a:t>
          </a:r>
        </a:p>
      </dgm:t>
    </dgm:pt>
    <dgm:pt modelId="{253353E1-B360-4A57-A70B-74653CF4F0DF}" type="parTrans" cxnId="{DFED4731-1311-4A6D-A580-05DC7F78869C}">
      <dgm:prSet/>
      <dgm:spPr/>
      <dgm:t>
        <a:bodyPr/>
        <a:lstStyle/>
        <a:p>
          <a:endParaRPr lang="en-US"/>
        </a:p>
      </dgm:t>
    </dgm:pt>
    <dgm:pt modelId="{A99727F8-94C1-4A58-BAE5-65A07E35866F}" type="sibTrans" cxnId="{DFED4731-1311-4A6D-A580-05DC7F78869C}">
      <dgm:prSet/>
      <dgm:spPr/>
      <dgm:t>
        <a:bodyPr/>
        <a:lstStyle/>
        <a:p>
          <a:endParaRPr lang="en-US"/>
        </a:p>
      </dgm:t>
    </dgm:pt>
    <dgm:pt modelId="{CF3B792B-E1FF-470C-9467-CE35C45CC343}">
      <dgm:prSet/>
      <dgm:spPr/>
      <dgm:t>
        <a:bodyPr/>
        <a:lstStyle/>
        <a:p>
          <a:r>
            <a:rPr lang="en-US"/>
            <a:t>Larger and more diverse benchmark</a:t>
          </a:r>
        </a:p>
      </dgm:t>
    </dgm:pt>
    <dgm:pt modelId="{C0A79654-83F0-46BF-968E-E4C05B9F7A32}" type="parTrans" cxnId="{3048CED2-FDE9-4B55-9096-9E356EF42715}">
      <dgm:prSet/>
      <dgm:spPr/>
      <dgm:t>
        <a:bodyPr/>
        <a:lstStyle/>
        <a:p>
          <a:endParaRPr lang="en-US"/>
        </a:p>
      </dgm:t>
    </dgm:pt>
    <dgm:pt modelId="{4BDC3E8B-9506-49B0-920E-1F996338C714}" type="sibTrans" cxnId="{3048CED2-FDE9-4B55-9096-9E356EF42715}">
      <dgm:prSet/>
      <dgm:spPr/>
      <dgm:t>
        <a:bodyPr/>
        <a:lstStyle/>
        <a:p>
          <a:endParaRPr lang="en-US"/>
        </a:p>
      </dgm:t>
    </dgm:pt>
    <dgm:pt modelId="{0635F14C-BD48-414F-99E0-C356C9BEB8A4}">
      <dgm:prSet/>
      <dgm:spPr/>
      <dgm:t>
        <a:bodyPr/>
        <a:lstStyle/>
        <a:p>
          <a:r>
            <a:rPr lang="en-US"/>
            <a:t>Multilingual testing and support</a:t>
          </a:r>
        </a:p>
      </dgm:t>
    </dgm:pt>
    <dgm:pt modelId="{14FC7E03-23D1-4414-B264-6783034BE18F}" type="parTrans" cxnId="{4058D75D-1344-4982-8A07-85AAE493D603}">
      <dgm:prSet/>
      <dgm:spPr/>
      <dgm:t>
        <a:bodyPr/>
        <a:lstStyle/>
        <a:p>
          <a:endParaRPr lang="en-US"/>
        </a:p>
      </dgm:t>
    </dgm:pt>
    <dgm:pt modelId="{8AE880B3-605F-4820-BD5B-867340F3E962}" type="sibTrans" cxnId="{4058D75D-1344-4982-8A07-85AAE493D603}">
      <dgm:prSet/>
      <dgm:spPr/>
      <dgm:t>
        <a:bodyPr/>
        <a:lstStyle/>
        <a:p>
          <a:endParaRPr lang="en-US"/>
        </a:p>
      </dgm:t>
    </dgm:pt>
    <dgm:pt modelId="{0265896B-33DA-4A2F-92B6-6ECEEAD93EE3}">
      <dgm:prSet/>
      <dgm:spPr/>
      <dgm:t>
        <a:bodyPr/>
        <a:lstStyle/>
        <a:p>
          <a:r>
            <a:rPr lang="en-US"/>
            <a:t>Better latency and cost tracking</a:t>
          </a:r>
        </a:p>
      </dgm:t>
    </dgm:pt>
    <dgm:pt modelId="{FAEEF5CF-1B89-42D7-A6B2-6170545D0E2C}" type="parTrans" cxnId="{A5511986-30AB-4BD2-A35A-ED03EE30BDC6}">
      <dgm:prSet/>
      <dgm:spPr/>
      <dgm:t>
        <a:bodyPr/>
        <a:lstStyle/>
        <a:p>
          <a:endParaRPr lang="en-US"/>
        </a:p>
      </dgm:t>
    </dgm:pt>
    <dgm:pt modelId="{B986F7BC-2A32-4DC3-8123-8B072B7881D5}" type="sibTrans" cxnId="{A5511986-30AB-4BD2-A35A-ED03EE30BDC6}">
      <dgm:prSet/>
      <dgm:spPr/>
      <dgm:t>
        <a:bodyPr/>
        <a:lstStyle/>
        <a:p>
          <a:endParaRPr lang="en-US"/>
        </a:p>
      </dgm:t>
    </dgm:pt>
    <dgm:pt modelId="{0366626F-DD82-4BA1-BE05-5C142F7D00B9}" type="pres">
      <dgm:prSet presAssocID="{900443AA-2E32-465F-9FA4-FAF9EABC10AB}" presName="root" presStyleCnt="0">
        <dgm:presLayoutVars>
          <dgm:dir/>
          <dgm:resizeHandles val="exact"/>
        </dgm:presLayoutVars>
      </dgm:prSet>
      <dgm:spPr/>
    </dgm:pt>
    <dgm:pt modelId="{7E3B6D9A-AA7F-4263-8AA1-399E78F09073}" type="pres">
      <dgm:prSet presAssocID="{A30EFF4A-2AF5-435D-B319-6F611752A07E}" presName="compNode" presStyleCnt="0"/>
      <dgm:spPr/>
    </dgm:pt>
    <dgm:pt modelId="{3A395C9E-8B6B-442A-88F6-862795D2D176}" type="pres">
      <dgm:prSet presAssocID="{A30EFF4A-2AF5-435D-B319-6F611752A07E}" presName="bgRect" presStyleLbl="bgShp" presStyleIdx="0" presStyleCnt="4"/>
      <dgm:spPr/>
    </dgm:pt>
    <dgm:pt modelId="{82321613-4FCD-4A7D-A363-13BAF69B119E}" type="pres">
      <dgm:prSet presAssocID="{A30EFF4A-2AF5-435D-B319-6F611752A07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FB15726-EA7D-40FF-9576-37AAC5954005}" type="pres">
      <dgm:prSet presAssocID="{A30EFF4A-2AF5-435D-B319-6F611752A07E}" presName="spaceRect" presStyleCnt="0"/>
      <dgm:spPr/>
    </dgm:pt>
    <dgm:pt modelId="{E5A95103-7B38-4929-B879-F290C0D6ED82}" type="pres">
      <dgm:prSet presAssocID="{A30EFF4A-2AF5-435D-B319-6F611752A07E}" presName="parTx" presStyleLbl="revTx" presStyleIdx="0" presStyleCnt="4">
        <dgm:presLayoutVars>
          <dgm:chMax val="0"/>
          <dgm:chPref val="0"/>
        </dgm:presLayoutVars>
      </dgm:prSet>
      <dgm:spPr/>
    </dgm:pt>
    <dgm:pt modelId="{21D4F373-D728-4787-A402-917EB2A69288}" type="pres">
      <dgm:prSet presAssocID="{A99727F8-94C1-4A58-BAE5-65A07E35866F}" presName="sibTrans" presStyleCnt="0"/>
      <dgm:spPr/>
    </dgm:pt>
    <dgm:pt modelId="{59B2990B-1763-4EEB-B215-371EE68CD454}" type="pres">
      <dgm:prSet presAssocID="{CF3B792B-E1FF-470C-9467-CE35C45CC343}" presName="compNode" presStyleCnt="0"/>
      <dgm:spPr/>
    </dgm:pt>
    <dgm:pt modelId="{9B36F6B7-0108-48EE-B480-57DE94585351}" type="pres">
      <dgm:prSet presAssocID="{CF3B792B-E1FF-470C-9467-CE35C45CC343}" presName="bgRect" presStyleLbl="bgShp" presStyleIdx="1" presStyleCnt="4"/>
      <dgm:spPr/>
    </dgm:pt>
    <dgm:pt modelId="{5DC06247-ADCA-4915-A8BC-B3ADF57DE216}" type="pres">
      <dgm:prSet presAssocID="{CF3B792B-E1FF-470C-9467-CE35C45CC34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5D381047-6A80-4D2E-B01D-D6FF758C2FBA}" type="pres">
      <dgm:prSet presAssocID="{CF3B792B-E1FF-470C-9467-CE35C45CC343}" presName="spaceRect" presStyleCnt="0"/>
      <dgm:spPr/>
    </dgm:pt>
    <dgm:pt modelId="{C7D6488E-A611-432E-BC98-E3B7D5E627F8}" type="pres">
      <dgm:prSet presAssocID="{CF3B792B-E1FF-470C-9467-CE35C45CC343}" presName="parTx" presStyleLbl="revTx" presStyleIdx="1" presStyleCnt="4">
        <dgm:presLayoutVars>
          <dgm:chMax val="0"/>
          <dgm:chPref val="0"/>
        </dgm:presLayoutVars>
      </dgm:prSet>
      <dgm:spPr/>
    </dgm:pt>
    <dgm:pt modelId="{D94A42EA-9D26-4E3A-A622-5CDA61386A75}" type="pres">
      <dgm:prSet presAssocID="{4BDC3E8B-9506-49B0-920E-1F996338C714}" presName="sibTrans" presStyleCnt="0"/>
      <dgm:spPr/>
    </dgm:pt>
    <dgm:pt modelId="{6F4A5FB5-4635-465B-8127-5FEA9E7D8B89}" type="pres">
      <dgm:prSet presAssocID="{0635F14C-BD48-414F-99E0-C356C9BEB8A4}" presName="compNode" presStyleCnt="0"/>
      <dgm:spPr/>
    </dgm:pt>
    <dgm:pt modelId="{900F0B44-36D7-4CF6-8FF6-4A4B0E162721}" type="pres">
      <dgm:prSet presAssocID="{0635F14C-BD48-414F-99E0-C356C9BEB8A4}" presName="bgRect" presStyleLbl="bgShp" presStyleIdx="2" presStyleCnt="4"/>
      <dgm:spPr/>
    </dgm:pt>
    <dgm:pt modelId="{0415C1B7-F181-4BD6-87CE-6E3C4FAF5405}" type="pres">
      <dgm:prSet presAssocID="{0635F14C-BD48-414F-99E0-C356C9BEB8A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9BEFFF54-855E-4576-BB8C-70FD2047BEFB}" type="pres">
      <dgm:prSet presAssocID="{0635F14C-BD48-414F-99E0-C356C9BEB8A4}" presName="spaceRect" presStyleCnt="0"/>
      <dgm:spPr/>
    </dgm:pt>
    <dgm:pt modelId="{64660EA4-0E34-483E-A3D3-84AF95BA09AA}" type="pres">
      <dgm:prSet presAssocID="{0635F14C-BD48-414F-99E0-C356C9BEB8A4}" presName="parTx" presStyleLbl="revTx" presStyleIdx="2" presStyleCnt="4">
        <dgm:presLayoutVars>
          <dgm:chMax val="0"/>
          <dgm:chPref val="0"/>
        </dgm:presLayoutVars>
      </dgm:prSet>
      <dgm:spPr/>
    </dgm:pt>
    <dgm:pt modelId="{3F9DD1C1-34D0-4F83-B867-9A9D9CDC2A2F}" type="pres">
      <dgm:prSet presAssocID="{8AE880B3-605F-4820-BD5B-867340F3E962}" presName="sibTrans" presStyleCnt="0"/>
      <dgm:spPr/>
    </dgm:pt>
    <dgm:pt modelId="{6632CDF4-12C7-4F7C-AC03-A4A4ECC3E8F4}" type="pres">
      <dgm:prSet presAssocID="{0265896B-33DA-4A2F-92B6-6ECEEAD93EE3}" presName="compNode" presStyleCnt="0"/>
      <dgm:spPr/>
    </dgm:pt>
    <dgm:pt modelId="{88C0B73B-C997-4BAF-B779-CD58DEE7C4D6}" type="pres">
      <dgm:prSet presAssocID="{0265896B-33DA-4A2F-92B6-6ECEEAD93EE3}" presName="bgRect" presStyleLbl="bgShp" presStyleIdx="3" presStyleCnt="4"/>
      <dgm:spPr/>
    </dgm:pt>
    <dgm:pt modelId="{1324E5DE-FE7E-49CE-9AE6-B5F82F711E9A}" type="pres">
      <dgm:prSet presAssocID="{0265896B-33DA-4A2F-92B6-6ECEEAD93EE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1DF97AF-3616-48AF-AB7D-7BDDF79C0D5E}" type="pres">
      <dgm:prSet presAssocID="{0265896B-33DA-4A2F-92B6-6ECEEAD93EE3}" presName="spaceRect" presStyleCnt="0"/>
      <dgm:spPr/>
    </dgm:pt>
    <dgm:pt modelId="{4B657B4C-C0C1-4B25-BC91-150E5B11B230}" type="pres">
      <dgm:prSet presAssocID="{0265896B-33DA-4A2F-92B6-6ECEEAD93EE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61C1C20-B49F-4848-BBCD-B624B435EF82}" type="presOf" srcId="{0635F14C-BD48-414F-99E0-C356C9BEB8A4}" destId="{64660EA4-0E34-483E-A3D3-84AF95BA09AA}" srcOrd="0" destOrd="0" presId="urn:microsoft.com/office/officeart/2018/2/layout/IconVerticalSolidList"/>
    <dgm:cxn modelId="{DFED4731-1311-4A6D-A580-05DC7F78869C}" srcId="{900443AA-2E32-465F-9FA4-FAF9EABC10AB}" destId="{A30EFF4A-2AF5-435D-B319-6F611752A07E}" srcOrd="0" destOrd="0" parTransId="{253353E1-B360-4A57-A70B-74653CF4F0DF}" sibTransId="{A99727F8-94C1-4A58-BAE5-65A07E35866F}"/>
    <dgm:cxn modelId="{DEFEBE37-B89C-42D2-870F-9FE91BFE98A2}" type="presOf" srcId="{CF3B792B-E1FF-470C-9467-CE35C45CC343}" destId="{C7D6488E-A611-432E-BC98-E3B7D5E627F8}" srcOrd="0" destOrd="0" presId="urn:microsoft.com/office/officeart/2018/2/layout/IconVerticalSolidList"/>
    <dgm:cxn modelId="{4058D75D-1344-4982-8A07-85AAE493D603}" srcId="{900443AA-2E32-465F-9FA4-FAF9EABC10AB}" destId="{0635F14C-BD48-414F-99E0-C356C9BEB8A4}" srcOrd="2" destOrd="0" parTransId="{14FC7E03-23D1-4414-B264-6783034BE18F}" sibTransId="{8AE880B3-605F-4820-BD5B-867340F3E962}"/>
    <dgm:cxn modelId="{F5FC5368-4732-4AB8-93FC-08B880EDAA94}" type="presOf" srcId="{0265896B-33DA-4A2F-92B6-6ECEEAD93EE3}" destId="{4B657B4C-C0C1-4B25-BC91-150E5B11B230}" srcOrd="0" destOrd="0" presId="urn:microsoft.com/office/officeart/2018/2/layout/IconVerticalSolidList"/>
    <dgm:cxn modelId="{A5511986-30AB-4BD2-A35A-ED03EE30BDC6}" srcId="{900443AA-2E32-465F-9FA4-FAF9EABC10AB}" destId="{0265896B-33DA-4A2F-92B6-6ECEEAD93EE3}" srcOrd="3" destOrd="0" parTransId="{FAEEF5CF-1B89-42D7-A6B2-6170545D0E2C}" sibTransId="{B986F7BC-2A32-4DC3-8123-8B072B7881D5}"/>
    <dgm:cxn modelId="{3EB59098-644A-4DF2-8D52-272D8CD8C826}" type="presOf" srcId="{A30EFF4A-2AF5-435D-B319-6F611752A07E}" destId="{E5A95103-7B38-4929-B879-F290C0D6ED82}" srcOrd="0" destOrd="0" presId="urn:microsoft.com/office/officeart/2018/2/layout/IconVerticalSolidList"/>
    <dgm:cxn modelId="{9ED6B0AE-6645-47DB-83D5-48E7F5480B31}" type="presOf" srcId="{900443AA-2E32-465F-9FA4-FAF9EABC10AB}" destId="{0366626F-DD82-4BA1-BE05-5C142F7D00B9}" srcOrd="0" destOrd="0" presId="urn:microsoft.com/office/officeart/2018/2/layout/IconVerticalSolidList"/>
    <dgm:cxn modelId="{3048CED2-FDE9-4B55-9096-9E356EF42715}" srcId="{900443AA-2E32-465F-9FA4-FAF9EABC10AB}" destId="{CF3B792B-E1FF-470C-9467-CE35C45CC343}" srcOrd="1" destOrd="0" parTransId="{C0A79654-83F0-46BF-968E-E4C05B9F7A32}" sibTransId="{4BDC3E8B-9506-49B0-920E-1F996338C714}"/>
    <dgm:cxn modelId="{846FABB3-136D-4DF6-BABB-8E83F3D33C1E}" type="presParOf" srcId="{0366626F-DD82-4BA1-BE05-5C142F7D00B9}" destId="{7E3B6D9A-AA7F-4263-8AA1-399E78F09073}" srcOrd="0" destOrd="0" presId="urn:microsoft.com/office/officeart/2018/2/layout/IconVerticalSolidList"/>
    <dgm:cxn modelId="{0425E535-AFCC-4C87-8608-C65DA8F7FAA5}" type="presParOf" srcId="{7E3B6D9A-AA7F-4263-8AA1-399E78F09073}" destId="{3A395C9E-8B6B-442A-88F6-862795D2D176}" srcOrd="0" destOrd="0" presId="urn:microsoft.com/office/officeart/2018/2/layout/IconVerticalSolidList"/>
    <dgm:cxn modelId="{170001FA-151E-4D12-A6D7-DEBB3ED221EF}" type="presParOf" srcId="{7E3B6D9A-AA7F-4263-8AA1-399E78F09073}" destId="{82321613-4FCD-4A7D-A363-13BAF69B119E}" srcOrd="1" destOrd="0" presId="urn:microsoft.com/office/officeart/2018/2/layout/IconVerticalSolidList"/>
    <dgm:cxn modelId="{E1D4CF31-940E-4A45-8D80-BC6904955A3D}" type="presParOf" srcId="{7E3B6D9A-AA7F-4263-8AA1-399E78F09073}" destId="{6FB15726-EA7D-40FF-9576-37AAC5954005}" srcOrd="2" destOrd="0" presId="urn:microsoft.com/office/officeart/2018/2/layout/IconVerticalSolidList"/>
    <dgm:cxn modelId="{18C4F40D-4BC3-44FB-B7A4-C89AD385AFBE}" type="presParOf" srcId="{7E3B6D9A-AA7F-4263-8AA1-399E78F09073}" destId="{E5A95103-7B38-4929-B879-F290C0D6ED82}" srcOrd="3" destOrd="0" presId="urn:microsoft.com/office/officeart/2018/2/layout/IconVerticalSolidList"/>
    <dgm:cxn modelId="{1918BE61-24AD-4991-A5B7-438D9AA44767}" type="presParOf" srcId="{0366626F-DD82-4BA1-BE05-5C142F7D00B9}" destId="{21D4F373-D728-4787-A402-917EB2A69288}" srcOrd="1" destOrd="0" presId="urn:microsoft.com/office/officeart/2018/2/layout/IconVerticalSolidList"/>
    <dgm:cxn modelId="{3654EB08-4A17-4073-8CD4-EB2FE684BA46}" type="presParOf" srcId="{0366626F-DD82-4BA1-BE05-5C142F7D00B9}" destId="{59B2990B-1763-4EEB-B215-371EE68CD454}" srcOrd="2" destOrd="0" presId="urn:microsoft.com/office/officeart/2018/2/layout/IconVerticalSolidList"/>
    <dgm:cxn modelId="{A6CFCE99-AF59-4437-BA27-45BD1560CD17}" type="presParOf" srcId="{59B2990B-1763-4EEB-B215-371EE68CD454}" destId="{9B36F6B7-0108-48EE-B480-57DE94585351}" srcOrd="0" destOrd="0" presId="urn:microsoft.com/office/officeart/2018/2/layout/IconVerticalSolidList"/>
    <dgm:cxn modelId="{A9B2D69C-62C2-4F02-96C3-2EF44EBEA2AC}" type="presParOf" srcId="{59B2990B-1763-4EEB-B215-371EE68CD454}" destId="{5DC06247-ADCA-4915-A8BC-B3ADF57DE216}" srcOrd="1" destOrd="0" presId="urn:microsoft.com/office/officeart/2018/2/layout/IconVerticalSolidList"/>
    <dgm:cxn modelId="{EFC77AC6-E788-4DA9-A35D-E0B6354F8F3F}" type="presParOf" srcId="{59B2990B-1763-4EEB-B215-371EE68CD454}" destId="{5D381047-6A80-4D2E-B01D-D6FF758C2FBA}" srcOrd="2" destOrd="0" presId="urn:microsoft.com/office/officeart/2018/2/layout/IconVerticalSolidList"/>
    <dgm:cxn modelId="{C82E7C55-D783-45C0-8A31-A9D402BA1F8F}" type="presParOf" srcId="{59B2990B-1763-4EEB-B215-371EE68CD454}" destId="{C7D6488E-A611-432E-BC98-E3B7D5E627F8}" srcOrd="3" destOrd="0" presId="urn:microsoft.com/office/officeart/2018/2/layout/IconVerticalSolidList"/>
    <dgm:cxn modelId="{F5E38D5E-A003-4AD6-986D-9B1840C181D2}" type="presParOf" srcId="{0366626F-DD82-4BA1-BE05-5C142F7D00B9}" destId="{D94A42EA-9D26-4E3A-A622-5CDA61386A75}" srcOrd="3" destOrd="0" presId="urn:microsoft.com/office/officeart/2018/2/layout/IconVerticalSolidList"/>
    <dgm:cxn modelId="{33A54EAA-BA90-4C8F-82B6-6BD5DFCC53A9}" type="presParOf" srcId="{0366626F-DD82-4BA1-BE05-5C142F7D00B9}" destId="{6F4A5FB5-4635-465B-8127-5FEA9E7D8B89}" srcOrd="4" destOrd="0" presId="urn:microsoft.com/office/officeart/2018/2/layout/IconVerticalSolidList"/>
    <dgm:cxn modelId="{9C1662FE-2D49-43F2-90A6-86CDEB92FC86}" type="presParOf" srcId="{6F4A5FB5-4635-465B-8127-5FEA9E7D8B89}" destId="{900F0B44-36D7-4CF6-8FF6-4A4B0E162721}" srcOrd="0" destOrd="0" presId="urn:microsoft.com/office/officeart/2018/2/layout/IconVerticalSolidList"/>
    <dgm:cxn modelId="{A3D135C5-A4E7-48EE-AF8A-8FCB375831C2}" type="presParOf" srcId="{6F4A5FB5-4635-465B-8127-5FEA9E7D8B89}" destId="{0415C1B7-F181-4BD6-87CE-6E3C4FAF5405}" srcOrd="1" destOrd="0" presId="urn:microsoft.com/office/officeart/2018/2/layout/IconVerticalSolidList"/>
    <dgm:cxn modelId="{BFC37AFC-8A80-46FA-8D73-A9CBD46514C7}" type="presParOf" srcId="{6F4A5FB5-4635-465B-8127-5FEA9E7D8B89}" destId="{9BEFFF54-855E-4576-BB8C-70FD2047BEFB}" srcOrd="2" destOrd="0" presId="urn:microsoft.com/office/officeart/2018/2/layout/IconVerticalSolidList"/>
    <dgm:cxn modelId="{26E214AD-59F5-4496-BF22-CBAE8E5F8ECF}" type="presParOf" srcId="{6F4A5FB5-4635-465B-8127-5FEA9E7D8B89}" destId="{64660EA4-0E34-483E-A3D3-84AF95BA09AA}" srcOrd="3" destOrd="0" presId="urn:microsoft.com/office/officeart/2018/2/layout/IconVerticalSolidList"/>
    <dgm:cxn modelId="{90BC6457-8FBF-4152-A31D-F035D202186C}" type="presParOf" srcId="{0366626F-DD82-4BA1-BE05-5C142F7D00B9}" destId="{3F9DD1C1-34D0-4F83-B867-9A9D9CDC2A2F}" srcOrd="5" destOrd="0" presId="urn:microsoft.com/office/officeart/2018/2/layout/IconVerticalSolidList"/>
    <dgm:cxn modelId="{6AE488C4-F1E7-43B6-94D3-922182983A54}" type="presParOf" srcId="{0366626F-DD82-4BA1-BE05-5C142F7D00B9}" destId="{6632CDF4-12C7-4F7C-AC03-A4A4ECC3E8F4}" srcOrd="6" destOrd="0" presId="urn:microsoft.com/office/officeart/2018/2/layout/IconVerticalSolidList"/>
    <dgm:cxn modelId="{C429BFE8-AC42-483E-929A-85A2F711FDE3}" type="presParOf" srcId="{6632CDF4-12C7-4F7C-AC03-A4A4ECC3E8F4}" destId="{88C0B73B-C997-4BAF-B779-CD58DEE7C4D6}" srcOrd="0" destOrd="0" presId="urn:microsoft.com/office/officeart/2018/2/layout/IconVerticalSolidList"/>
    <dgm:cxn modelId="{7DD2969D-96F3-41C2-BAF2-036BFAE89C59}" type="presParOf" srcId="{6632CDF4-12C7-4F7C-AC03-A4A4ECC3E8F4}" destId="{1324E5DE-FE7E-49CE-9AE6-B5F82F711E9A}" srcOrd="1" destOrd="0" presId="urn:microsoft.com/office/officeart/2018/2/layout/IconVerticalSolidList"/>
    <dgm:cxn modelId="{C9570D12-36AB-464E-8576-30F188661E3C}" type="presParOf" srcId="{6632CDF4-12C7-4F7C-AC03-A4A4ECC3E8F4}" destId="{F1DF97AF-3616-48AF-AB7D-7BDDF79C0D5E}" srcOrd="2" destOrd="0" presId="urn:microsoft.com/office/officeart/2018/2/layout/IconVerticalSolidList"/>
    <dgm:cxn modelId="{D008B1A6-4536-4B4D-B77A-D47D75BDFB72}" type="presParOf" srcId="{6632CDF4-12C7-4F7C-AC03-A4A4ECC3E8F4}" destId="{4B657B4C-C0C1-4B25-BC91-150E5B11B2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395C9E-8B6B-442A-88F6-862795D2D176}">
      <dsp:nvSpPr>
        <dsp:cNvPr id="0" name=""/>
        <dsp:cNvSpPr/>
      </dsp:nvSpPr>
      <dsp:spPr>
        <a:xfrm>
          <a:off x="0" y="1354"/>
          <a:ext cx="7717500" cy="68667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21613-4FCD-4A7D-A363-13BAF69B119E}">
      <dsp:nvSpPr>
        <dsp:cNvPr id="0" name=""/>
        <dsp:cNvSpPr/>
      </dsp:nvSpPr>
      <dsp:spPr>
        <a:xfrm>
          <a:off x="207718" y="155856"/>
          <a:ext cx="377670" cy="3776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95103-7B38-4929-B879-F290C0D6ED82}">
      <dsp:nvSpPr>
        <dsp:cNvPr id="0" name=""/>
        <dsp:cNvSpPr/>
      </dsp:nvSpPr>
      <dsp:spPr>
        <a:xfrm>
          <a:off x="793107" y="1354"/>
          <a:ext cx="6924392" cy="686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73" tIns="72673" rIns="72673" bIns="726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More human annotation for edge cases</a:t>
          </a:r>
        </a:p>
      </dsp:txBody>
      <dsp:txXfrm>
        <a:off x="793107" y="1354"/>
        <a:ext cx="6924392" cy="686673"/>
      </dsp:txXfrm>
    </dsp:sp>
    <dsp:sp modelId="{9B36F6B7-0108-48EE-B480-57DE94585351}">
      <dsp:nvSpPr>
        <dsp:cNvPr id="0" name=""/>
        <dsp:cNvSpPr/>
      </dsp:nvSpPr>
      <dsp:spPr>
        <a:xfrm>
          <a:off x="0" y="859696"/>
          <a:ext cx="7717500" cy="68667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C06247-ADCA-4915-A8BC-B3ADF57DE216}">
      <dsp:nvSpPr>
        <dsp:cNvPr id="0" name=""/>
        <dsp:cNvSpPr/>
      </dsp:nvSpPr>
      <dsp:spPr>
        <a:xfrm>
          <a:off x="207718" y="1014198"/>
          <a:ext cx="377670" cy="3776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6488E-A611-432E-BC98-E3B7D5E627F8}">
      <dsp:nvSpPr>
        <dsp:cNvPr id="0" name=""/>
        <dsp:cNvSpPr/>
      </dsp:nvSpPr>
      <dsp:spPr>
        <a:xfrm>
          <a:off x="793107" y="859696"/>
          <a:ext cx="6924392" cy="686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73" tIns="72673" rIns="72673" bIns="726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Larger and more diverse benchmark</a:t>
          </a:r>
        </a:p>
      </dsp:txBody>
      <dsp:txXfrm>
        <a:off x="793107" y="859696"/>
        <a:ext cx="6924392" cy="686673"/>
      </dsp:txXfrm>
    </dsp:sp>
    <dsp:sp modelId="{900F0B44-36D7-4CF6-8FF6-4A4B0E162721}">
      <dsp:nvSpPr>
        <dsp:cNvPr id="0" name=""/>
        <dsp:cNvSpPr/>
      </dsp:nvSpPr>
      <dsp:spPr>
        <a:xfrm>
          <a:off x="0" y="1718038"/>
          <a:ext cx="7717500" cy="68667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5C1B7-F181-4BD6-87CE-6E3C4FAF5405}">
      <dsp:nvSpPr>
        <dsp:cNvPr id="0" name=""/>
        <dsp:cNvSpPr/>
      </dsp:nvSpPr>
      <dsp:spPr>
        <a:xfrm>
          <a:off x="207718" y="1872539"/>
          <a:ext cx="377670" cy="3776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60EA4-0E34-483E-A3D3-84AF95BA09AA}">
      <dsp:nvSpPr>
        <dsp:cNvPr id="0" name=""/>
        <dsp:cNvSpPr/>
      </dsp:nvSpPr>
      <dsp:spPr>
        <a:xfrm>
          <a:off x="793107" y="1718038"/>
          <a:ext cx="6924392" cy="686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73" tIns="72673" rIns="72673" bIns="726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Multilingual testing and support</a:t>
          </a:r>
        </a:p>
      </dsp:txBody>
      <dsp:txXfrm>
        <a:off x="793107" y="1718038"/>
        <a:ext cx="6924392" cy="686673"/>
      </dsp:txXfrm>
    </dsp:sp>
    <dsp:sp modelId="{88C0B73B-C997-4BAF-B779-CD58DEE7C4D6}">
      <dsp:nvSpPr>
        <dsp:cNvPr id="0" name=""/>
        <dsp:cNvSpPr/>
      </dsp:nvSpPr>
      <dsp:spPr>
        <a:xfrm>
          <a:off x="0" y="2576379"/>
          <a:ext cx="7717500" cy="68667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4E5DE-FE7E-49CE-9AE6-B5F82F711E9A}">
      <dsp:nvSpPr>
        <dsp:cNvPr id="0" name=""/>
        <dsp:cNvSpPr/>
      </dsp:nvSpPr>
      <dsp:spPr>
        <a:xfrm>
          <a:off x="207718" y="2730881"/>
          <a:ext cx="377670" cy="3776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57B4C-C0C1-4B25-BC91-150E5B11B230}">
      <dsp:nvSpPr>
        <dsp:cNvPr id="0" name=""/>
        <dsp:cNvSpPr/>
      </dsp:nvSpPr>
      <dsp:spPr>
        <a:xfrm>
          <a:off x="793107" y="2576379"/>
          <a:ext cx="6924392" cy="686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73" tIns="72673" rIns="72673" bIns="726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Better latency and cost tracking</a:t>
          </a:r>
        </a:p>
      </dsp:txBody>
      <dsp:txXfrm>
        <a:off x="793107" y="2576379"/>
        <a:ext cx="6924392" cy="6866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a87eb8680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a87eb8680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8a87eb868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8a87eb868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8a87eb8680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8a87eb8680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8a87eb8680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8a87eb8680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8a87eb8680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8a87eb8680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6bcecd75a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6bcecd75a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39149" y="928938"/>
            <a:ext cx="4291500" cy="29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39125" y="3848863"/>
            <a:ext cx="4291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634135" y="1434600"/>
            <a:ext cx="3532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1115100" y="1152475"/>
            <a:ext cx="6913800" cy="3456000"/>
          </a:xfrm>
          <a:prstGeom prst="rect">
            <a:avLst/>
          </a:prstGeom>
          <a:solidFill>
            <a:schemeClr val="dk1">
              <a:alpha val="56699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400">
                <a:solidFill>
                  <a:srgbClr val="F3F3F3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 flipH="1">
            <a:off x="55841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 flipH="1">
            <a:off x="50793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 flipH="1">
            <a:off x="18586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 flipH="1">
            <a:off x="13538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2422250" y="1418700"/>
            <a:ext cx="4299600" cy="23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720100" y="1706850"/>
            <a:ext cx="2759700" cy="17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2062500"/>
            <a:ext cx="8520600" cy="11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255700"/>
            <a:ext cx="8520600" cy="5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2880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3817400" y="2678437"/>
            <a:ext cx="4291500" cy="14866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br>
              <a:rPr lang="en-SA"/>
            </a:br>
            <a:r>
              <a:rPr lang="en-SA"/>
              <a:t>EduGuard</a:t>
            </a:r>
            <a:br>
              <a:rPr lang="en-SA"/>
            </a:br>
            <a:endParaRPr lang="en-SA"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3352800" y="3086863"/>
            <a:ext cx="5401675" cy="3162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SA" b="1"/>
              <a:t>Hybrid AI Safety Guardrail System for Educational Support Chatbots</a:t>
            </a:r>
            <a:endParaRPr lang="en-SA"/>
          </a:p>
          <a:p>
            <a:r>
              <a:rPr lang="en-SA"/>
              <a:t>By: Sultanah Alharbi &amp; Budor Alharbi  |  SDA AI Engineering Bootcamp</a:t>
            </a:r>
          </a:p>
        </p:txBody>
      </p:sp>
      <p:pic>
        <p:nvPicPr>
          <p:cNvPr id="3" name="Graphic 2" descr="Shield Tick outline">
            <a:extLst>
              <a:ext uri="{FF2B5EF4-FFF2-40B4-BE49-F238E27FC236}">
                <a16:creationId xmlns:a16="http://schemas.microsoft.com/office/drawing/2014/main" id="{4684CEE8-EFFE-58F9-D326-BFC1581304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525" y="866028"/>
            <a:ext cx="3299072" cy="32990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5D445-2DF0-374E-3FF1-682E0E95E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477" y="454375"/>
            <a:ext cx="4291500" cy="2961000"/>
          </a:xfr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SA" sz="5600" b="1" i="0" u="none" strike="noStrike" cap="none">
                <a:latin typeface="Rajdhani"/>
                <a:ea typeface="Rajdhani"/>
                <a:cs typeface="Rajdhani"/>
                <a:sym typeface="Rajdhani"/>
              </a:rPr>
              <a:t>Presentation Agenda</a:t>
            </a:r>
            <a:br>
              <a:rPr lang="en-SA" sz="5600" b="1" i="0" u="none" strike="noStrike" cap="none">
                <a:latin typeface="Rajdhani"/>
                <a:ea typeface="Rajdhani"/>
                <a:cs typeface="Rajdhani"/>
                <a:sym typeface="Rajdhani"/>
              </a:rPr>
            </a:br>
            <a:endParaRPr lang="en-SA" sz="5600" b="1" i="0" u="none" strike="noStrike" cap="none"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9B638-2EF4-9698-49F2-E5745AD127DC}"/>
              </a:ext>
            </a:extLst>
          </p:cNvPr>
          <p:cNvSpPr txBox="1"/>
          <p:nvPr/>
        </p:nvSpPr>
        <p:spPr>
          <a:xfrm>
            <a:off x="3854370" y="1851949"/>
            <a:ext cx="4722471" cy="264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438150" indent="-285750">
              <a:lnSpc>
                <a:spcPct val="90000"/>
              </a:lnSpc>
              <a:spcAft>
                <a:spcPts val="600"/>
              </a:spcAft>
              <a:buClr>
                <a:schemeClr val="lt2"/>
              </a:buClr>
              <a:buSzPts val="2800"/>
              <a:buFont typeface="Wingdings" pitchFamily="2" charset="2"/>
              <a:buChar char="§"/>
            </a:pPr>
            <a:r>
              <a:rPr lang="en-US" sz="1600" b="0" i="0" u="none" strike="noStrike" cap="none">
                <a:solidFill>
                  <a:schemeClr val="lt2"/>
                </a:solidFill>
                <a:latin typeface="+mj-lt"/>
                <a:ea typeface="Fira Sans Condensed Light"/>
                <a:cs typeface="Fira Sans Condensed Light"/>
                <a:sym typeface="Fira Sans Condensed Light"/>
              </a:rPr>
              <a:t>Problem &amp; Goal</a:t>
            </a:r>
          </a:p>
          <a:p>
            <a:pPr marL="438150" indent="-285750">
              <a:lnSpc>
                <a:spcPct val="90000"/>
              </a:lnSpc>
              <a:spcAft>
                <a:spcPts val="600"/>
              </a:spcAft>
              <a:buClr>
                <a:schemeClr val="lt2"/>
              </a:buClr>
              <a:buSzPts val="2800"/>
              <a:buFont typeface="Wingdings" pitchFamily="2" charset="2"/>
              <a:buChar char="§"/>
            </a:pPr>
            <a:r>
              <a:rPr lang="en-US" sz="1600" b="0" i="0" u="none" strike="noStrike" cap="none">
                <a:solidFill>
                  <a:schemeClr val="lt2"/>
                </a:solidFill>
                <a:latin typeface="+mj-lt"/>
                <a:ea typeface="Fira Sans Condensed Light"/>
                <a:cs typeface="Fira Sans Condensed Light"/>
                <a:sym typeface="Fira Sans Condensed Light"/>
              </a:rPr>
              <a:t>Safety Taxonomy</a:t>
            </a:r>
          </a:p>
          <a:p>
            <a:pPr marL="438150" indent="-285750">
              <a:lnSpc>
                <a:spcPct val="90000"/>
              </a:lnSpc>
              <a:spcAft>
                <a:spcPts val="600"/>
              </a:spcAft>
              <a:buClr>
                <a:schemeClr val="lt2"/>
              </a:buClr>
              <a:buSzPts val="2800"/>
              <a:buFont typeface="Wingdings" pitchFamily="2" charset="2"/>
              <a:buChar char="§"/>
            </a:pPr>
            <a:r>
              <a:rPr lang="en-US" sz="1600" b="0" i="0" u="none" strike="noStrike" cap="none">
                <a:solidFill>
                  <a:schemeClr val="lt2"/>
                </a:solidFill>
                <a:latin typeface="+mj-lt"/>
                <a:ea typeface="Fira Sans Condensed Light"/>
                <a:cs typeface="Fira Sans Condensed Light"/>
                <a:sym typeface="Fira Sans Condensed Light"/>
              </a:rPr>
              <a:t>Data Strategy</a:t>
            </a:r>
          </a:p>
          <a:p>
            <a:pPr marL="438150" indent="-285750">
              <a:lnSpc>
                <a:spcPct val="90000"/>
              </a:lnSpc>
              <a:spcAft>
                <a:spcPts val="600"/>
              </a:spcAft>
              <a:buClr>
                <a:schemeClr val="lt2"/>
              </a:buClr>
              <a:buSzPts val="2800"/>
              <a:buFont typeface="Wingdings" pitchFamily="2" charset="2"/>
              <a:buChar char="§"/>
            </a:pPr>
            <a:r>
              <a:rPr lang="en-US" sz="1600" b="0" i="0" u="none" strike="noStrike" cap="none">
                <a:solidFill>
                  <a:schemeClr val="lt2"/>
                </a:solidFill>
                <a:latin typeface="+mj-lt"/>
                <a:ea typeface="Fira Sans Condensed Light"/>
                <a:cs typeface="Fira Sans Condensed Light"/>
                <a:sym typeface="Fira Sans Condensed Light"/>
              </a:rPr>
              <a:t>System </a:t>
            </a:r>
            <a:r>
              <a:rPr lang="en-SA" sz="1600">
                <a:solidFill>
                  <a:schemeClr val="accent4"/>
                </a:solidFill>
                <a:latin typeface="+mj-lt"/>
              </a:rPr>
              <a:t>Architecture</a:t>
            </a:r>
            <a:endParaRPr lang="en-US" sz="1600" b="0" i="0" u="none" strike="noStrike" cap="none">
              <a:solidFill>
                <a:schemeClr val="accent4"/>
              </a:solidFill>
              <a:latin typeface="+mj-lt"/>
              <a:ea typeface="Fira Sans Condensed Light"/>
              <a:cs typeface="Fira Sans Condensed Light"/>
              <a:sym typeface="Fira Sans Condensed Light"/>
            </a:endParaRPr>
          </a:p>
          <a:p>
            <a:pPr marL="438150" indent="-285750">
              <a:lnSpc>
                <a:spcPct val="90000"/>
              </a:lnSpc>
              <a:spcAft>
                <a:spcPts val="600"/>
              </a:spcAft>
              <a:buClr>
                <a:schemeClr val="lt2"/>
              </a:buClr>
              <a:buSzPts val="2800"/>
              <a:buFont typeface="Wingdings" pitchFamily="2" charset="2"/>
              <a:buChar char="§"/>
            </a:pPr>
            <a:r>
              <a:rPr lang="en-US" sz="1600" b="0" i="0" u="none" strike="noStrike" cap="none">
                <a:solidFill>
                  <a:schemeClr val="lt2"/>
                </a:solidFill>
                <a:latin typeface="+mj-lt"/>
                <a:ea typeface="Fira Sans Condensed Light"/>
                <a:cs typeface="Fira Sans Condensed Light"/>
                <a:sym typeface="Fira Sans Condensed Light"/>
              </a:rPr>
              <a:t>Evaluation Results</a:t>
            </a:r>
          </a:p>
          <a:p>
            <a:pPr marL="438150" indent="-285750">
              <a:lnSpc>
                <a:spcPct val="90000"/>
              </a:lnSpc>
              <a:spcAft>
                <a:spcPts val="600"/>
              </a:spcAft>
              <a:buClr>
                <a:schemeClr val="lt2"/>
              </a:buClr>
              <a:buSzPts val="2800"/>
              <a:buFont typeface="Wingdings" pitchFamily="2" charset="2"/>
              <a:buChar char="§"/>
            </a:pPr>
            <a:r>
              <a:rPr lang="en-US" sz="1600" b="0" i="0" u="none" strike="noStrike" cap="none">
                <a:solidFill>
                  <a:schemeClr val="lt2"/>
                </a:solidFill>
                <a:latin typeface="+mj-lt"/>
                <a:ea typeface="Fira Sans Condensed Light"/>
                <a:cs typeface="Fira Sans Condensed Light"/>
                <a:sym typeface="Fira Sans Condensed Light"/>
              </a:rPr>
              <a:t>Cost &amp; Ethics</a:t>
            </a:r>
          </a:p>
          <a:p>
            <a:pPr marL="438150" indent="-285750">
              <a:lnSpc>
                <a:spcPct val="90000"/>
              </a:lnSpc>
              <a:spcAft>
                <a:spcPts val="600"/>
              </a:spcAft>
              <a:buClr>
                <a:schemeClr val="lt2"/>
              </a:buClr>
              <a:buSzPts val="2800"/>
              <a:buFont typeface="Wingdings" pitchFamily="2" charset="2"/>
              <a:buChar char="§"/>
            </a:pPr>
            <a:r>
              <a:rPr lang="en-US" sz="1600" b="0" i="0" u="none" strike="noStrike" cap="none">
                <a:solidFill>
                  <a:schemeClr val="lt2"/>
                </a:solidFill>
                <a:latin typeface="+mj-lt"/>
                <a:ea typeface="Fira Sans Condensed Light"/>
                <a:cs typeface="Fira Sans Condensed Light"/>
                <a:sym typeface="Fira Sans Condensed Light"/>
              </a:rPr>
              <a:t>FutureWork                                                     </a:t>
            </a:r>
          </a:p>
          <a:p>
            <a:pPr marL="438150" indent="-285750">
              <a:lnSpc>
                <a:spcPct val="90000"/>
              </a:lnSpc>
              <a:spcAft>
                <a:spcPts val="600"/>
              </a:spcAft>
              <a:buClr>
                <a:schemeClr val="lt2"/>
              </a:buClr>
              <a:buSzPts val="2800"/>
              <a:buFont typeface="Wingdings" pitchFamily="2" charset="2"/>
              <a:buChar char="§"/>
            </a:pPr>
            <a:r>
              <a:rPr lang="en-US" sz="1600" b="0" i="0" u="none" strike="noStrike" cap="none">
                <a:solidFill>
                  <a:schemeClr val="lt2"/>
                </a:solidFill>
                <a:latin typeface="+mj-lt"/>
                <a:ea typeface="Fira Sans Condensed Light"/>
                <a:cs typeface="Fira Sans Condensed Light"/>
                <a:sym typeface="Fira Sans Condensed Light"/>
              </a:rPr>
              <a:t>Student App Demo</a:t>
            </a:r>
          </a:p>
          <a:p>
            <a:pPr marL="438150" indent="-285750">
              <a:lnSpc>
                <a:spcPct val="90000"/>
              </a:lnSpc>
              <a:spcAft>
                <a:spcPts val="600"/>
              </a:spcAft>
              <a:buClr>
                <a:schemeClr val="lt2"/>
              </a:buClr>
              <a:buSzPts val="2800"/>
              <a:buFont typeface="Wingdings" pitchFamily="2" charset="2"/>
              <a:buChar char="§"/>
            </a:pPr>
            <a:r>
              <a:rPr lang="en-US" sz="1600" b="0" i="0" u="none" strike="noStrike" cap="none">
                <a:solidFill>
                  <a:schemeClr val="lt2"/>
                </a:solidFill>
                <a:latin typeface="+mj-lt"/>
                <a:ea typeface="Fira Sans Condensed Light"/>
                <a:cs typeface="Fira Sans Condensed Light"/>
                <a:sym typeface="Fira Sans Condensed Light"/>
              </a:rPr>
              <a:t>Admin Dashboard Demo</a:t>
            </a:r>
            <a:br>
              <a:rPr lang="en-US" sz="16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lang="en-US" sz="1600" b="0" i="0" u="none" strike="noStrike" cap="none">
              <a:solidFill>
                <a:schemeClr val="lt2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799226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141217" y="253150"/>
            <a:ext cx="31689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SA"/>
              <a:t>Problem &amp; Goal</a:t>
            </a:r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613295" y="1148000"/>
            <a:ext cx="2542500" cy="3456000"/>
          </a:xfrm>
          <a:prstGeom prst="rect">
            <a:avLst/>
          </a:prstGeom>
          <a:solidFill>
            <a:schemeClr val="dk1">
              <a:alpha val="66038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lt2"/>
              </a:buClr>
              <a:buFont typeface="Fira Sans Condensed"/>
              <a:buChar char="●"/>
            </a:pPr>
            <a:r>
              <a:rPr lang="en-SA" b="1"/>
              <a:t>The Problem</a:t>
            </a:r>
          </a:p>
          <a:p>
            <a:pPr marL="139700" indent="0">
              <a:buClr>
                <a:schemeClr val="lt2"/>
              </a:buClr>
              <a:buNone/>
            </a:pPr>
            <a:endParaRPr lang="en-SA"/>
          </a:p>
          <a:p>
            <a:r>
              <a:rPr lang="en-SA"/>
              <a:t>Educational chatbots may answer unsafe or irrelevant questions</a:t>
            </a:r>
          </a:p>
          <a:p>
            <a:r>
              <a:rPr lang="en-SA"/>
              <a:t>Students may ask for cheating help, sensitive support, or attempt prompt injection</a:t>
            </a:r>
          </a:p>
          <a:p>
            <a:r>
              <a:rPr lang="en-SA"/>
              <a:t>GPT usage becomes costly if every request is answered without filtering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ra Sans Condensed"/>
              <a:buChar char="●"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4" name="Google Shape;65;p16">
            <a:extLst>
              <a:ext uri="{FF2B5EF4-FFF2-40B4-BE49-F238E27FC236}">
                <a16:creationId xmlns:a16="http://schemas.microsoft.com/office/drawing/2014/main" id="{3CCA68AC-E5F4-D4A8-C805-DCDFE3F4F29E}"/>
              </a:ext>
            </a:extLst>
          </p:cNvPr>
          <p:cNvSpPr txBox="1">
            <a:spLocks/>
          </p:cNvSpPr>
          <p:nvPr/>
        </p:nvSpPr>
        <p:spPr>
          <a:xfrm>
            <a:off x="4541757" y="1148000"/>
            <a:ext cx="2542500" cy="3456000"/>
          </a:xfrm>
          <a:prstGeom prst="rect">
            <a:avLst/>
          </a:prstGeom>
          <a:solidFill>
            <a:schemeClr val="dk1">
              <a:alpha val="66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400" b="0" i="0" u="none" strike="noStrike" cap="none">
                <a:solidFill>
                  <a:srgbClr val="F3F3F3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>
              <a:buClr>
                <a:schemeClr val="lt2"/>
              </a:buClr>
              <a:buFont typeface="Fira Sans Condensed"/>
              <a:buChar char="●"/>
            </a:pPr>
            <a:r>
              <a:rPr lang="en-SA" b="1"/>
              <a:t>The Goal</a:t>
            </a:r>
            <a:endParaRPr lang="en-SA"/>
          </a:p>
          <a:p>
            <a:pPr>
              <a:buClr>
                <a:schemeClr val="lt2"/>
              </a:buClr>
              <a:buFont typeface="Fira Sans Condensed"/>
              <a:buChar char="●"/>
            </a:pPr>
            <a:endParaRPr lang="en-US"/>
          </a:p>
          <a:p>
            <a:r>
              <a:rPr lang="en-SA"/>
              <a:t>Answer </a:t>
            </a:r>
            <a:r>
              <a:rPr lang="en-SA" b="1"/>
              <a:t>SAFE</a:t>
            </a:r>
            <a:r>
              <a:rPr lang="en-SA"/>
              <a:t> academic questions accurately</a:t>
            </a:r>
          </a:p>
          <a:p>
            <a:pPr marL="139700" indent="0">
              <a:buNone/>
            </a:pPr>
            <a:endParaRPr lang="en-SA"/>
          </a:p>
          <a:p>
            <a:r>
              <a:rPr lang="en-SA"/>
              <a:t>Refuse, redirect, escalate, or block risky requests</a:t>
            </a:r>
          </a:p>
          <a:p>
            <a:pPr>
              <a:buClr>
                <a:schemeClr val="lt2"/>
              </a:buClr>
              <a:buFont typeface="Fira Sans Condensed"/>
              <a:buChar char="●"/>
            </a:pPr>
            <a:endParaRPr lang="en-US">
              <a:solidFill>
                <a:schemeClr val="lt2"/>
              </a:solidFill>
            </a:endParaRPr>
          </a:p>
          <a:p>
            <a:pPr>
              <a:buClr>
                <a:schemeClr val="lt2"/>
              </a:buClr>
              <a:buFont typeface="Fira Sans Condensed"/>
              <a:buChar char="●"/>
            </a:pPr>
            <a:endParaRPr lang="en-US">
              <a:solidFill>
                <a:schemeClr val="lt2"/>
              </a:solidFill>
            </a:endParaRPr>
          </a:p>
          <a:p>
            <a:pPr marL="139700" indent="0">
              <a:buClr>
                <a:schemeClr val="lt2"/>
              </a:buClr>
              <a:buNone/>
            </a:pPr>
            <a:r>
              <a:rPr lang="en-SA"/>
              <a:t>      Protect students. Reduce cost. Maintain trust.</a:t>
            </a:r>
          </a:p>
          <a:p>
            <a:pPr>
              <a:buClr>
                <a:schemeClr val="lt2"/>
              </a:buClr>
              <a:buFont typeface="Fira Sans Condensed"/>
              <a:buChar char="●"/>
            </a:pPr>
            <a:endParaRPr lang="en-US">
              <a:solidFill>
                <a:schemeClr val="l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698FC-1AC8-D382-7E9E-6AC7CD2E5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874" y="3106459"/>
            <a:ext cx="278780" cy="2835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-252732" y="174956"/>
            <a:ext cx="416012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SA"/>
              <a:t>Safety Taxonomy</a:t>
            </a:r>
          </a:p>
        </p:txBody>
      </p:sp>
      <p:sp>
        <p:nvSpPr>
          <p:cNvPr id="83" name="Google Shape;83;p17"/>
          <p:cNvSpPr/>
          <p:nvPr/>
        </p:nvSpPr>
        <p:spPr>
          <a:xfrm>
            <a:off x="158536" y="1112200"/>
            <a:ext cx="2974956" cy="1659343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3468030" y="1112200"/>
            <a:ext cx="2645094" cy="1659342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58536" y="3178098"/>
            <a:ext cx="4721690" cy="1659343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5116530" y="3178098"/>
            <a:ext cx="3868934" cy="1659343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" name="Google Shape;84;p17">
            <a:extLst>
              <a:ext uri="{FF2B5EF4-FFF2-40B4-BE49-F238E27FC236}">
                <a16:creationId xmlns:a16="http://schemas.microsoft.com/office/drawing/2014/main" id="{85C203BF-68FC-3540-4C8D-E01D746BDE05}"/>
              </a:ext>
            </a:extLst>
          </p:cNvPr>
          <p:cNvSpPr/>
          <p:nvPr/>
        </p:nvSpPr>
        <p:spPr>
          <a:xfrm>
            <a:off x="6340370" y="1112200"/>
            <a:ext cx="2645094" cy="1659342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5" name="Graphic 4" descr="Badge Tick1 with solid fill">
            <a:extLst>
              <a:ext uri="{FF2B5EF4-FFF2-40B4-BE49-F238E27FC236}">
                <a16:creationId xmlns:a16="http://schemas.microsoft.com/office/drawing/2014/main" id="{12795A56-BA61-F838-6638-23ED830E0A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535" y="1207082"/>
            <a:ext cx="561565" cy="561565"/>
          </a:xfrm>
          <a:prstGeom prst="rect">
            <a:avLst/>
          </a:prstGeom>
        </p:spPr>
      </p:pic>
      <p:pic>
        <p:nvPicPr>
          <p:cNvPr id="7" name="Graphic 6" descr="Badge Heart with solid fill">
            <a:extLst>
              <a:ext uri="{FF2B5EF4-FFF2-40B4-BE49-F238E27FC236}">
                <a16:creationId xmlns:a16="http://schemas.microsoft.com/office/drawing/2014/main" id="{4FFEE663-2A62-825F-6D03-591329C261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6125" y="1103044"/>
            <a:ext cx="611923" cy="6119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4A2996-10C7-4274-411C-88AC9B386608}"/>
              </a:ext>
            </a:extLst>
          </p:cNvPr>
          <p:cNvSpPr txBox="1"/>
          <p:nvPr/>
        </p:nvSpPr>
        <p:spPr>
          <a:xfrm>
            <a:off x="439317" y="1487864"/>
            <a:ext cx="24555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A" b="1"/>
              <a:t>SAFE</a:t>
            </a:r>
          </a:p>
          <a:p>
            <a:pPr algn="ctr"/>
            <a:endParaRPr lang="en-SA"/>
          </a:p>
          <a:p>
            <a:pPr algn="ctr"/>
            <a:r>
              <a:rPr lang="en-SA"/>
              <a:t>Academic support question — eligible for GPT response</a:t>
            </a:r>
          </a:p>
          <a:p>
            <a:pPr algn="ctr"/>
            <a:endParaRPr lang="en-S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AF34AF-90DF-E0AB-6C7D-841BD4E492DC}"/>
              </a:ext>
            </a:extLst>
          </p:cNvPr>
          <p:cNvSpPr txBox="1"/>
          <p:nvPr/>
        </p:nvSpPr>
        <p:spPr>
          <a:xfrm>
            <a:off x="3520906" y="1518754"/>
            <a:ext cx="25922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 b="1"/>
              <a:t>              UNSAFE</a:t>
            </a:r>
          </a:p>
          <a:p>
            <a:endParaRPr lang="en-SA"/>
          </a:p>
          <a:p>
            <a:pPr algn="ctr"/>
            <a:r>
              <a:rPr lang="en-SA"/>
              <a:t>Cheating or academic dishonesty — blocked immediately</a:t>
            </a:r>
          </a:p>
          <a:p>
            <a:endParaRPr lang="en-S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37AF2C-8F5B-2008-64B3-0EBE1E521163}"/>
              </a:ext>
            </a:extLst>
          </p:cNvPr>
          <p:cNvSpPr txBox="1"/>
          <p:nvPr/>
        </p:nvSpPr>
        <p:spPr>
          <a:xfrm>
            <a:off x="6347854" y="1546180"/>
            <a:ext cx="25922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SA"/>
          </a:p>
          <a:p>
            <a:pPr algn="ctr"/>
            <a:r>
              <a:rPr lang="en-SA" b="1"/>
              <a:t>SENSITIVE</a:t>
            </a:r>
          </a:p>
          <a:p>
            <a:pPr algn="ctr"/>
            <a:endParaRPr lang="en-SA"/>
          </a:p>
          <a:p>
            <a:pPr algn="ctr"/>
            <a:r>
              <a:rPr lang="en-SA"/>
              <a:t>Student safety or wellbeing concern — escalated to admin</a:t>
            </a:r>
          </a:p>
          <a:p>
            <a:pPr algn="ctr"/>
            <a:endParaRPr lang="en-S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3271E-44F6-743C-ED7C-450671628B9B}"/>
              </a:ext>
            </a:extLst>
          </p:cNvPr>
          <p:cNvSpPr txBox="1"/>
          <p:nvPr/>
        </p:nvSpPr>
        <p:spPr>
          <a:xfrm>
            <a:off x="389070" y="3601566"/>
            <a:ext cx="40171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A" b="1"/>
              <a:t>OUT_OF_SCOPE</a:t>
            </a:r>
          </a:p>
          <a:p>
            <a:r>
              <a:rPr lang="en-SA"/>
              <a:t>Not related to academic support — redirected</a:t>
            </a:r>
          </a:p>
          <a:p>
            <a:endParaRPr lang="en-S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94D360-B8BF-678B-5DB7-FF20082614A8}"/>
              </a:ext>
            </a:extLst>
          </p:cNvPr>
          <p:cNvSpPr txBox="1"/>
          <p:nvPr/>
        </p:nvSpPr>
        <p:spPr>
          <a:xfrm>
            <a:off x="5416035" y="3509196"/>
            <a:ext cx="35240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 b="1"/>
              <a:t>         PROMPT_INJECTION</a:t>
            </a:r>
            <a:endParaRPr lang="en-SA"/>
          </a:p>
          <a:p>
            <a:endParaRPr lang="en-SA"/>
          </a:p>
          <a:p>
            <a:pPr algn="ctr"/>
            <a:r>
              <a:rPr lang="en-SA"/>
              <a:t>Attempts to bypass system rules — blocked</a:t>
            </a:r>
          </a:p>
          <a:p>
            <a:endParaRPr lang="en-S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09D2C7-B5DD-3094-8382-D0B73D72C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340" y="3263080"/>
            <a:ext cx="427091" cy="427091"/>
          </a:xfrm>
          <a:prstGeom prst="rect">
            <a:avLst/>
          </a:prstGeom>
          <a:noFill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CF43C2-A938-563B-A24E-C8A5B38961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905" y="1172602"/>
            <a:ext cx="386489" cy="3864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A44EBC-A7EA-98E4-02C5-93F993B8F3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246580" y="3241899"/>
            <a:ext cx="473520" cy="47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54415" y="368233"/>
            <a:ext cx="25035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SA"/>
              <a:t>Data Strategy</a:t>
            </a:r>
          </a:p>
        </p:txBody>
      </p:sp>
      <p:sp>
        <p:nvSpPr>
          <p:cNvPr id="92" name="Google Shape;92;p18"/>
          <p:cNvSpPr txBox="1"/>
          <p:nvPr/>
        </p:nvSpPr>
        <p:spPr>
          <a:xfrm>
            <a:off x="599849" y="712333"/>
            <a:ext cx="174431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SA" b="1">
                <a:solidFill>
                  <a:schemeClr val="tx2"/>
                </a:solidFill>
              </a:rPr>
              <a:t>Synthetic Dataset</a:t>
            </a:r>
            <a:endParaRPr lang="en-SA">
              <a:solidFill>
                <a:schemeClr val="tx2"/>
              </a:solidFill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2443201" y="3396312"/>
            <a:ext cx="188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tx2"/>
                </a:solidFill>
                <a:latin typeface="Rajdhani"/>
                <a:ea typeface="Rajdhani"/>
                <a:cs typeface="Rajdhani"/>
                <a:sym typeface="Rajdhani"/>
              </a:rPr>
              <a:t>800</a:t>
            </a:r>
          </a:p>
          <a:p>
            <a:pPr algn="ctr"/>
            <a:r>
              <a:rPr lang="en-SA" b="1">
                <a:solidFill>
                  <a:schemeClr val="tx2"/>
                </a:solidFill>
              </a:rPr>
              <a:t>Total Samples</a:t>
            </a:r>
            <a:endParaRPr lang="en-SA">
              <a:solidFill>
                <a:schemeClr val="tx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tx2"/>
                </a:solidFill>
                <a:latin typeface="Rajdhani"/>
                <a:ea typeface="Rajdhani"/>
                <a:cs typeface="Rajdhani"/>
                <a:sym typeface="Rajdhani"/>
              </a:rPr>
              <a:t>560</a:t>
            </a:r>
          </a:p>
          <a:p>
            <a:pPr algn="ctr"/>
            <a:r>
              <a:rPr lang="en-SA" b="1">
                <a:solidFill>
                  <a:schemeClr val="tx2"/>
                </a:solidFill>
              </a:rPr>
              <a:t>Training Set</a:t>
            </a:r>
            <a:endParaRPr lang="en-SA">
              <a:solidFill>
                <a:schemeClr val="tx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120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Test Set</a:t>
            </a:r>
            <a:endParaRPr sz="2400" b="1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9E964E-B04F-0713-7368-4498760163D4}"/>
              </a:ext>
            </a:extLst>
          </p:cNvPr>
          <p:cNvSpPr txBox="1"/>
          <p:nvPr/>
        </p:nvSpPr>
        <p:spPr>
          <a:xfrm>
            <a:off x="5993369" y="1114301"/>
            <a:ext cx="1678623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>
                <a:solidFill>
                  <a:schemeClr val="tx2"/>
                </a:solidFill>
                <a:latin typeface="Rajdhani"/>
                <a:ea typeface="Rajdhani"/>
                <a:cs typeface="Rajdhani"/>
                <a:sym typeface="Rajdhani"/>
              </a:rPr>
              <a:t>160</a:t>
            </a:r>
          </a:p>
          <a:p>
            <a:pPr algn="ctr"/>
            <a:r>
              <a:rPr lang="en-SA" b="1">
                <a:solidFill>
                  <a:schemeClr val="tx2"/>
                </a:solidFill>
              </a:rPr>
              <a:t>Per Label</a:t>
            </a:r>
            <a:endParaRPr lang="en-SA">
              <a:solidFill>
                <a:schemeClr val="tx2"/>
              </a:solidFill>
            </a:endParaRPr>
          </a:p>
          <a:p>
            <a:pPr lvl="0" algn="ctr"/>
            <a:endParaRPr lang="en-US" sz="2400" b="1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lvl="0" algn="ctr"/>
            <a:r>
              <a:rPr lang="en-US" sz="2400" b="1">
                <a:solidFill>
                  <a:schemeClr val="tx2"/>
                </a:solidFill>
                <a:latin typeface="Rajdhani"/>
                <a:ea typeface="Rajdhani"/>
                <a:cs typeface="Rajdhani"/>
                <a:sym typeface="Rajdhani"/>
              </a:rPr>
              <a:t>120</a:t>
            </a:r>
          </a:p>
          <a:p>
            <a:pPr algn="ctr"/>
            <a:r>
              <a:rPr lang="en-SA" b="1">
                <a:solidFill>
                  <a:schemeClr val="tx2"/>
                </a:solidFill>
              </a:rPr>
              <a:t>Validation</a:t>
            </a:r>
            <a:endParaRPr lang="en-SA">
              <a:solidFill>
                <a:schemeClr val="tx2"/>
              </a:solidFill>
            </a:endParaRPr>
          </a:p>
          <a:p>
            <a:pPr lvl="0" algn="ctr"/>
            <a:endParaRPr lang="en-US" sz="2400" b="1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lvl="0" algn="ctr"/>
            <a:r>
              <a:rPr lang="en-US"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100</a:t>
            </a:r>
          </a:p>
          <a:p>
            <a:pPr lvl="0" algn="ctr"/>
            <a:r>
              <a:rPr lang="en-US"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Benchmark </a:t>
            </a:r>
            <a:endParaRPr lang="en-SA" sz="1400">
              <a:solidFill>
                <a:srgbClr val="1D1C1C"/>
              </a:solidFill>
              <a:effectLst/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DECC5-F354-2604-751C-06FD7EF5DB6D}"/>
              </a:ext>
            </a:extLst>
          </p:cNvPr>
          <p:cNvSpPr txBox="1"/>
          <p:nvPr/>
        </p:nvSpPr>
        <p:spPr>
          <a:xfrm>
            <a:off x="162085" y="3624912"/>
            <a:ext cx="6445331" cy="1846659"/>
          </a:xfrm>
          <a:prstGeom prst="rect">
            <a:avLst/>
          </a:prstGeom>
          <a:solidFill>
            <a:schemeClr val="accent2">
              <a:lumMod val="20000"/>
              <a:lumOff val="80000"/>
              <a:alpha val="13974"/>
            </a:schemeClr>
          </a:solidFill>
          <a:effectLst>
            <a:softEdge rad="142395"/>
          </a:effectLst>
        </p:spPr>
        <p:txBody>
          <a:bodyPr wrap="square" rtlCol="0">
            <a:spAutoFit/>
          </a:bodyPr>
          <a:lstStyle/>
          <a:p>
            <a:r>
              <a:rPr lang="en-SA" sz="1600" b="1">
                <a:solidFill>
                  <a:schemeClr val="tx2"/>
                </a:solidFill>
              </a:rPr>
              <a:t>Data Privacy</a:t>
            </a:r>
          </a:p>
          <a:p>
            <a:endParaRPr lang="en-SA" b="1">
              <a:solidFill>
                <a:schemeClr val="tx2"/>
              </a:solidFill>
            </a:endParaRPr>
          </a:p>
          <a:p>
            <a:r>
              <a:rPr lang="en-SA">
                <a:solidFill>
                  <a:schemeClr val="tx2"/>
                </a:solidFill>
              </a:rPr>
              <a:t>  No real student data was used at any stage of this project.</a:t>
            </a:r>
          </a:p>
          <a:p>
            <a:r>
              <a:rPr lang="en-SA">
                <a:solidFill>
                  <a:schemeClr val="tx2"/>
                </a:solidFill>
              </a:rPr>
              <a:t>No private university records</a:t>
            </a:r>
          </a:p>
          <a:p>
            <a:r>
              <a:rPr lang="en-SA">
                <a:solidFill>
                  <a:schemeClr val="tx2"/>
                </a:solidFill>
              </a:rPr>
              <a:t>Fully synthetic, fictional educational knowledge base</a:t>
            </a:r>
          </a:p>
          <a:p>
            <a:r>
              <a:rPr lang="en-SA">
                <a:solidFill>
                  <a:schemeClr val="tx2"/>
                </a:solidFill>
              </a:rPr>
              <a:t>Balanced class distribution across all 5 labels</a:t>
            </a:r>
          </a:p>
          <a:p>
            <a:endParaRPr lang="en-SA">
              <a:solidFill>
                <a:schemeClr val="tx2"/>
              </a:solidFill>
            </a:endParaRPr>
          </a:p>
          <a:p>
            <a:endParaRPr lang="en-SA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A58CFC-320F-06A3-5EEF-11F49BE98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65" y="4137797"/>
            <a:ext cx="218377" cy="171582"/>
          </a:xfrm>
          <a:prstGeom prst="rect">
            <a:avLst/>
          </a:prstGeom>
          <a:solidFill>
            <a:schemeClr val="tx2"/>
          </a:solidFill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title"/>
          </p:nvPr>
        </p:nvSpPr>
        <p:spPr>
          <a:xfrm>
            <a:off x="201168" y="231375"/>
            <a:ext cx="34794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SA"/>
              <a:t>System Architecture</a:t>
            </a:r>
          </a:p>
        </p:txBody>
      </p:sp>
      <p:grpSp>
        <p:nvGrpSpPr>
          <p:cNvPr id="143" name="Google Shape;143;p19"/>
          <p:cNvGrpSpPr/>
          <p:nvPr/>
        </p:nvGrpSpPr>
        <p:grpSpPr>
          <a:xfrm>
            <a:off x="4385972" y="1195568"/>
            <a:ext cx="372073" cy="355243"/>
            <a:chOff x="7390435" y="3680868"/>
            <a:chExt cx="372073" cy="355243"/>
          </a:xfrm>
        </p:grpSpPr>
        <p:sp>
          <p:nvSpPr>
            <p:cNvPr id="144" name="Google Shape;144;p19"/>
            <p:cNvSpPr/>
            <p:nvPr/>
          </p:nvSpPr>
          <p:spPr>
            <a:xfrm>
              <a:off x="7390435" y="3744950"/>
              <a:ext cx="294178" cy="291162"/>
            </a:xfrm>
            <a:custGeom>
              <a:avLst/>
              <a:gdLst/>
              <a:ahLst/>
              <a:cxnLst/>
              <a:rect l="l" t="t" r="r" b="b"/>
              <a:pathLst>
                <a:path w="9264" h="9169" extrusionOk="0">
                  <a:moveTo>
                    <a:pt x="4668" y="0"/>
                  </a:moveTo>
                  <a:cubicBezTo>
                    <a:pt x="3441" y="0"/>
                    <a:pt x="2287" y="477"/>
                    <a:pt x="1417" y="1334"/>
                  </a:cubicBezTo>
                  <a:cubicBezTo>
                    <a:pt x="1358" y="1393"/>
                    <a:pt x="1358" y="1501"/>
                    <a:pt x="1417" y="1572"/>
                  </a:cubicBezTo>
                  <a:cubicBezTo>
                    <a:pt x="1447" y="1602"/>
                    <a:pt x="1489" y="1617"/>
                    <a:pt x="1532" y="1617"/>
                  </a:cubicBezTo>
                  <a:cubicBezTo>
                    <a:pt x="1575" y="1617"/>
                    <a:pt x="1620" y="1602"/>
                    <a:pt x="1655" y="1572"/>
                  </a:cubicBezTo>
                  <a:cubicBezTo>
                    <a:pt x="2465" y="774"/>
                    <a:pt x="3537" y="322"/>
                    <a:pt x="4668" y="322"/>
                  </a:cubicBezTo>
                  <a:cubicBezTo>
                    <a:pt x="5799" y="322"/>
                    <a:pt x="6870" y="774"/>
                    <a:pt x="7668" y="1572"/>
                  </a:cubicBezTo>
                  <a:cubicBezTo>
                    <a:pt x="8478" y="2382"/>
                    <a:pt x="8918" y="3453"/>
                    <a:pt x="8918" y="4584"/>
                  </a:cubicBezTo>
                  <a:cubicBezTo>
                    <a:pt x="8918" y="5715"/>
                    <a:pt x="8478" y="6787"/>
                    <a:pt x="7668" y="7585"/>
                  </a:cubicBezTo>
                  <a:cubicBezTo>
                    <a:pt x="6841" y="8412"/>
                    <a:pt x="5751" y="8826"/>
                    <a:pt x="4662" y="8826"/>
                  </a:cubicBezTo>
                  <a:cubicBezTo>
                    <a:pt x="3572" y="8826"/>
                    <a:pt x="2483" y="8412"/>
                    <a:pt x="1655" y="7585"/>
                  </a:cubicBezTo>
                  <a:cubicBezTo>
                    <a:pt x="953" y="6882"/>
                    <a:pt x="524" y="5965"/>
                    <a:pt x="441" y="4977"/>
                  </a:cubicBezTo>
                  <a:cubicBezTo>
                    <a:pt x="346" y="4013"/>
                    <a:pt x="596" y="3037"/>
                    <a:pt x="1132" y="2227"/>
                  </a:cubicBezTo>
                  <a:cubicBezTo>
                    <a:pt x="1179" y="2155"/>
                    <a:pt x="1167" y="2048"/>
                    <a:pt x="1096" y="1989"/>
                  </a:cubicBezTo>
                  <a:cubicBezTo>
                    <a:pt x="1066" y="1972"/>
                    <a:pt x="1035" y="1964"/>
                    <a:pt x="1005" y="1964"/>
                  </a:cubicBezTo>
                  <a:cubicBezTo>
                    <a:pt x="950" y="1964"/>
                    <a:pt x="896" y="1990"/>
                    <a:pt x="858" y="2036"/>
                  </a:cubicBezTo>
                  <a:cubicBezTo>
                    <a:pt x="274" y="2894"/>
                    <a:pt x="1" y="3953"/>
                    <a:pt x="108" y="5013"/>
                  </a:cubicBezTo>
                  <a:cubicBezTo>
                    <a:pt x="215" y="6073"/>
                    <a:pt x="679" y="7085"/>
                    <a:pt x="1429" y="7823"/>
                  </a:cubicBezTo>
                  <a:cubicBezTo>
                    <a:pt x="2322" y="8716"/>
                    <a:pt x="3501" y="9168"/>
                    <a:pt x="4680" y="9168"/>
                  </a:cubicBezTo>
                  <a:cubicBezTo>
                    <a:pt x="5858" y="9168"/>
                    <a:pt x="7025" y="8716"/>
                    <a:pt x="7918" y="7823"/>
                  </a:cubicBezTo>
                  <a:cubicBezTo>
                    <a:pt x="8787" y="6966"/>
                    <a:pt x="9264" y="5799"/>
                    <a:pt x="9264" y="4584"/>
                  </a:cubicBezTo>
                  <a:cubicBezTo>
                    <a:pt x="9264" y="3358"/>
                    <a:pt x="8787" y="2203"/>
                    <a:pt x="7906" y="1334"/>
                  </a:cubicBezTo>
                  <a:cubicBezTo>
                    <a:pt x="7049" y="477"/>
                    <a:pt x="5882" y="0"/>
                    <a:pt x="46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7408948" y="3772259"/>
              <a:ext cx="259407" cy="236257"/>
            </a:xfrm>
            <a:custGeom>
              <a:avLst/>
              <a:gdLst/>
              <a:ahLst/>
              <a:cxnLst/>
              <a:rect l="l" t="t" r="r" b="b"/>
              <a:pathLst>
                <a:path w="8169" h="7440" extrusionOk="0">
                  <a:moveTo>
                    <a:pt x="4085" y="319"/>
                  </a:moveTo>
                  <a:cubicBezTo>
                    <a:pt x="4942" y="319"/>
                    <a:pt x="5823" y="653"/>
                    <a:pt x="6478" y="1319"/>
                  </a:cubicBezTo>
                  <a:cubicBezTo>
                    <a:pt x="7800" y="2653"/>
                    <a:pt x="7800" y="4796"/>
                    <a:pt x="6478" y="6117"/>
                  </a:cubicBezTo>
                  <a:cubicBezTo>
                    <a:pt x="5817" y="6778"/>
                    <a:pt x="4951" y="7109"/>
                    <a:pt x="4083" y="7109"/>
                  </a:cubicBezTo>
                  <a:cubicBezTo>
                    <a:pt x="3216" y="7109"/>
                    <a:pt x="2346" y="6778"/>
                    <a:pt x="1680" y="6117"/>
                  </a:cubicBezTo>
                  <a:cubicBezTo>
                    <a:pt x="358" y="4796"/>
                    <a:pt x="358" y="2653"/>
                    <a:pt x="1680" y="1319"/>
                  </a:cubicBezTo>
                  <a:cubicBezTo>
                    <a:pt x="2335" y="664"/>
                    <a:pt x="3216" y="319"/>
                    <a:pt x="4085" y="319"/>
                  </a:cubicBezTo>
                  <a:close/>
                  <a:moveTo>
                    <a:pt x="4088" y="1"/>
                  </a:moveTo>
                  <a:cubicBezTo>
                    <a:pt x="3132" y="1"/>
                    <a:pt x="2174" y="361"/>
                    <a:pt x="1442" y="1081"/>
                  </a:cubicBezTo>
                  <a:cubicBezTo>
                    <a:pt x="1" y="2534"/>
                    <a:pt x="1" y="4891"/>
                    <a:pt x="1442" y="6356"/>
                  </a:cubicBezTo>
                  <a:cubicBezTo>
                    <a:pt x="2180" y="7082"/>
                    <a:pt x="3120" y="7439"/>
                    <a:pt x="4085" y="7439"/>
                  </a:cubicBezTo>
                  <a:cubicBezTo>
                    <a:pt x="5037" y="7439"/>
                    <a:pt x="5978" y="7082"/>
                    <a:pt x="6716" y="6356"/>
                  </a:cubicBezTo>
                  <a:cubicBezTo>
                    <a:pt x="8169" y="4891"/>
                    <a:pt x="8169" y="2546"/>
                    <a:pt x="6716" y="1081"/>
                  </a:cubicBezTo>
                  <a:cubicBezTo>
                    <a:pt x="5996" y="361"/>
                    <a:pt x="5043" y="1"/>
                    <a:pt x="40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7487986" y="3680868"/>
              <a:ext cx="274522" cy="259565"/>
            </a:xfrm>
            <a:custGeom>
              <a:avLst/>
              <a:gdLst/>
              <a:ahLst/>
              <a:cxnLst/>
              <a:rect l="l" t="t" r="r" b="b"/>
              <a:pathLst>
                <a:path w="8645" h="8174" extrusionOk="0">
                  <a:moveTo>
                    <a:pt x="3614" y="0"/>
                  </a:moveTo>
                  <a:cubicBezTo>
                    <a:pt x="2438" y="0"/>
                    <a:pt x="1262" y="447"/>
                    <a:pt x="369" y="1340"/>
                  </a:cubicBezTo>
                  <a:cubicBezTo>
                    <a:pt x="262" y="1447"/>
                    <a:pt x="167" y="1566"/>
                    <a:pt x="60" y="1685"/>
                  </a:cubicBezTo>
                  <a:cubicBezTo>
                    <a:pt x="0" y="1756"/>
                    <a:pt x="12" y="1864"/>
                    <a:pt x="84" y="1923"/>
                  </a:cubicBezTo>
                  <a:cubicBezTo>
                    <a:pt x="118" y="1948"/>
                    <a:pt x="155" y="1960"/>
                    <a:pt x="191" y="1960"/>
                  </a:cubicBezTo>
                  <a:cubicBezTo>
                    <a:pt x="240" y="1960"/>
                    <a:pt x="287" y="1936"/>
                    <a:pt x="322" y="1887"/>
                  </a:cubicBezTo>
                  <a:cubicBezTo>
                    <a:pt x="417" y="1792"/>
                    <a:pt x="500" y="1685"/>
                    <a:pt x="608" y="1578"/>
                  </a:cubicBezTo>
                  <a:cubicBezTo>
                    <a:pt x="1435" y="750"/>
                    <a:pt x="2524" y="337"/>
                    <a:pt x="3614" y="337"/>
                  </a:cubicBezTo>
                  <a:cubicBezTo>
                    <a:pt x="4703" y="337"/>
                    <a:pt x="5793" y="750"/>
                    <a:pt x="6620" y="1578"/>
                  </a:cubicBezTo>
                  <a:cubicBezTo>
                    <a:pt x="8275" y="3233"/>
                    <a:pt x="8275" y="5936"/>
                    <a:pt x="6620" y="7591"/>
                  </a:cubicBezTo>
                  <a:cubicBezTo>
                    <a:pt x="6513" y="7698"/>
                    <a:pt x="6418" y="7781"/>
                    <a:pt x="6311" y="7876"/>
                  </a:cubicBezTo>
                  <a:cubicBezTo>
                    <a:pt x="6239" y="7936"/>
                    <a:pt x="6215" y="8043"/>
                    <a:pt x="6275" y="8114"/>
                  </a:cubicBezTo>
                  <a:cubicBezTo>
                    <a:pt x="6311" y="8162"/>
                    <a:pt x="6358" y="8174"/>
                    <a:pt x="6418" y="8174"/>
                  </a:cubicBezTo>
                  <a:cubicBezTo>
                    <a:pt x="6454" y="8174"/>
                    <a:pt x="6489" y="8162"/>
                    <a:pt x="6513" y="8126"/>
                  </a:cubicBezTo>
                  <a:cubicBezTo>
                    <a:pt x="6632" y="8043"/>
                    <a:pt x="6751" y="7936"/>
                    <a:pt x="6858" y="7817"/>
                  </a:cubicBezTo>
                  <a:cubicBezTo>
                    <a:pt x="8644" y="6031"/>
                    <a:pt x="8644" y="3126"/>
                    <a:pt x="6858" y="1340"/>
                  </a:cubicBezTo>
                  <a:cubicBezTo>
                    <a:pt x="5965" y="447"/>
                    <a:pt x="4790" y="0"/>
                    <a:pt x="36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7691758" y="3789502"/>
              <a:ext cx="34073" cy="102918"/>
            </a:xfrm>
            <a:custGeom>
              <a:avLst/>
              <a:gdLst/>
              <a:ahLst/>
              <a:cxnLst/>
              <a:rect l="l" t="t" r="r" b="b"/>
              <a:pathLst>
                <a:path w="1073" h="3241" extrusionOk="0">
                  <a:moveTo>
                    <a:pt x="589" y="1"/>
                  </a:moveTo>
                  <a:cubicBezTo>
                    <a:pt x="580" y="1"/>
                    <a:pt x="570" y="1"/>
                    <a:pt x="560" y="2"/>
                  </a:cubicBezTo>
                  <a:cubicBezTo>
                    <a:pt x="477" y="38"/>
                    <a:pt x="429" y="121"/>
                    <a:pt x="441" y="217"/>
                  </a:cubicBezTo>
                  <a:cubicBezTo>
                    <a:pt x="715" y="1157"/>
                    <a:pt x="560" y="2145"/>
                    <a:pt x="37" y="2967"/>
                  </a:cubicBezTo>
                  <a:cubicBezTo>
                    <a:pt x="1" y="3038"/>
                    <a:pt x="13" y="3146"/>
                    <a:pt x="84" y="3205"/>
                  </a:cubicBezTo>
                  <a:cubicBezTo>
                    <a:pt x="120" y="3217"/>
                    <a:pt x="144" y="3241"/>
                    <a:pt x="167" y="3241"/>
                  </a:cubicBezTo>
                  <a:cubicBezTo>
                    <a:pt x="239" y="3241"/>
                    <a:pt x="275" y="3205"/>
                    <a:pt x="310" y="3158"/>
                  </a:cubicBezTo>
                  <a:cubicBezTo>
                    <a:pt x="906" y="2265"/>
                    <a:pt x="1072" y="1169"/>
                    <a:pt x="775" y="121"/>
                  </a:cubicBezTo>
                  <a:cubicBezTo>
                    <a:pt x="743" y="47"/>
                    <a:pt x="672" y="1"/>
                    <a:pt x="5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7536000" y="3708082"/>
              <a:ext cx="173192" cy="72052"/>
            </a:xfrm>
            <a:custGeom>
              <a:avLst/>
              <a:gdLst/>
              <a:ahLst/>
              <a:cxnLst/>
              <a:rect l="l" t="t" r="r" b="b"/>
              <a:pathLst>
                <a:path w="5454" h="2269" extrusionOk="0">
                  <a:moveTo>
                    <a:pt x="2121" y="0"/>
                  </a:moveTo>
                  <a:cubicBezTo>
                    <a:pt x="1410" y="0"/>
                    <a:pt x="707" y="204"/>
                    <a:pt x="108" y="590"/>
                  </a:cubicBezTo>
                  <a:cubicBezTo>
                    <a:pt x="36" y="638"/>
                    <a:pt x="0" y="733"/>
                    <a:pt x="60" y="828"/>
                  </a:cubicBezTo>
                  <a:cubicBezTo>
                    <a:pt x="91" y="874"/>
                    <a:pt x="147" y="906"/>
                    <a:pt x="205" y="906"/>
                  </a:cubicBezTo>
                  <a:cubicBezTo>
                    <a:pt x="237" y="906"/>
                    <a:pt x="269" y="897"/>
                    <a:pt x="298" y="876"/>
                  </a:cubicBezTo>
                  <a:cubicBezTo>
                    <a:pt x="841" y="534"/>
                    <a:pt x="1478" y="344"/>
                    <a:pt x="2123" y="344"/>
                  </a:cubicBezTo>
                  <a:cubicBezTo>
                    <a:pt x="2241" y="344"/>
                    <a:pt x="2359" y="351"/>
                    <a:pt x="2477" y="364"/>
                  </a:cubicBezTo>
                  <a:cubicBezTo>
                    <a:pt x="3251" y="435"/>
                    <a:pt x="3977" y="792"/>
                    <a:pt x="4513" y="1328"/>
                  </a:cubicBezTo>
                  <a:cubicBezTo>
                    <a:pt x="4763" y="1590"/>
                    <a:pt x="4977" y="1864"/>
                    <a:pt x="5120" y="2185"/>
                  </a:cubicBezTo>
                  <a:cubicBezTo>
                    <a:pt x="5156" y="2245"/>
                    <a:pt x="5215" y="2269"/>
                    <a:pt x="5275" y="2269"/>
                  </a:cubicBezTo>
                  <a:cubicBezTo>
                    <a:pt x="5299" y="2269"/>
                    <a:pt x="5323" y="2269"/>
                    <a:pt x="5346" y="2257"/>
                  </a:cubicBezTo>
                  <a:cubicBezTo>
                    <a:pt x="5418" y="2197"/>
                    <a:pt x="5453" y="2102"/>
                    <a:pt x="5406" y="2019"/>
                  </a:cubicBezTo>
                  <a:cubicBezTo>
                    <a:pt x="5227" y="1673"/>
                    <a:pt x="5001" y="1364"/>
                    <a:pt x="4739" y="1102"/>
                  </a:cubicBezTo>
                  <a:cubicBezTo>
                    <a:pt x="4144" y="507"/>
                    <a:pt x="3334" y="114"/>
                    <a:pt x="2489" y="18"/>
                  </a:cubicBezTo>
                  <a:cubicBezTo>
                    <a:pt x="2366" y="6"/>
                    <a:pt x="2243" y="0"/>
                    <a:pt x="2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7501228" y="3819415"/>
              <a:ext cx="75640" cy="141437"/>
            </a:xfrm>
            <a:custGeom>
              <a:avLst/>
              <a:gdLst/>
              <a:ahLst/>
              <a:cxnLst/>
              <a:rect l="l" t="t" r="r" b="b"/>
              <a:pathLst>
                <a:path w="2382" h="4454" extrusionOk="0">
                  <a:moveTo>
                    <a:pt x="1012" y="692"/>
                  </a:moveTo>
                  <a:lnTo>
                    <a:pt x="1012" y="2061"/>
                  </a:lnTo>
                  <a:cubicBezTo>
                    <a:pt x="607" y="2001"/>
                    <a:pt x="310" y="1715"/>
                    <a:pt x="310" y="1370"/>
                  </a:cubicBezTo>
                  <a:cubicBezTo>
                    <a:pt x="310" y="1025"/>
                    <a:pt x="607" y="763"/>
                    <a:pt x="1012" y="692"/>
                  </a:cubicBezTo>
                  <a:close/>
                  <a:moveTo>
                    <a:pt x="1357" y="2418"/>
                  </a:moveTo>
                  <a:cubicBezTo>
                    <a:pt x="1750" y="2477"/>
                    <a:pt x="2048" y="2751"/>
                    <a:pt x="2048" y="3097"/>
                  </a:cubicBezTo>
                  <a:cubicBezTo>
                    <a:pt x="2048" y="3430"/>
                    <a:pt x="1738" y="3704"/>
                    <a:pt x="1357" y="3763"/>
                  </a:cubicBezTo>
                  <a:lnTo>
                    <a:pt x="1357" y="2418"/>
                  </a:lnTo>
                  <a:close/>
                  <a:moveTo>
                    <a:pt x="1191" y="1"/>
                  </a:moveTo>
                  <a:cubicBezTo>
                    <a:pt x="1095" y="1"/>
                    <a:pt x="1024" y="72"/>
                    <a:pt x="1024" y="168"/>
                  </a:cubicBezTo>
                  <a:lnTo>
                    <a:pt x="1024" y="358"/>
                  </a:lnTo>
                  <a:cubicBezTo>
                    <a:pt x="441" y="430"/>
                    <a:pt x="0" y="870"/>
                    <a:pt x="0" y="1370"/>
                  </a:cubicBezTo>
                  <a:cubicBezTo>
                    <a:pt x="0" y="1882"/>
                    <a:pt x="441" y="2323"/>
                    <a:pt x="1024" y="2382"/>
                  </a:cubicBezTo>
                  <a:lnTo>
                    <a:pt x="1024" y="3763"/>
                  </a:lnTo>
                  <a:cubicBezTo>
                    <a:pt x="619" y="3704"/>
                    <a:pt x="322" y="3430"/>
                    <a:pt x="322" y="3085"/>
                  </a:cubicBezTo>
                  <a:cubicBezTo>
                    <a:pt x="322" y="2989"/>
                    <a:pt x="250" y="2918"/>
                    <a:pt x="167" y="2918"/>
                  </a:cubicBezTo>
                  <a:cubicBezTo>
                    <a:pt x="71" y="2918"/>
                    <a:pt x="0" y="2989"/>
                    <a:pt x="0" y="3085"/>
                  </a:cubicBezTo>
                  <a:cubicBezTo>
                    <a:pt x="0" y="3609"/>
                    <a:pt x="441" y="4037"/>
                    <a:pt x="1024" y="4097"/>
                  </a:cubicBezTo>
                  <a:lnTo>
                    <a:pt x="1024" y="4287"/>
                  </a:lnTo>
                  <a:cubicBezTo>
                    <a:pt x="1024" y="4371"/>
                    <a:pt x="1095" y="4454"/>
                    <a:pt x="1191" y="4454"/>
                  </a:cubicBezTo>
                  <a:cubicBezTo>
                    <a:pt x="1274" y="4454"/>
                    <a:pt x="1357" y="4371"/>
                    <a:pt x="1357" y="4287"/>
                  </a:cubicBezTo>
                  <a:lnTo>
                    <a:pt x="1357" y="4097"/>
                  </a:lnTo>
                  <a:cubicBezTo>
                    <a:pt x="1929" y="4025"/>
                    <a:pt x="2381" y="3585"/>
                    <a:pt x="2381" y="3085"/>
                  </a:cubicBezTo>
                  <a:cubicBezTo>
                    <a:pt x="2381" y="2573"/>
                    <a:pt x="1929" y="2144"/>
                    <a:pt x="1357" y="2073"/>
                  </a:cubicBezTo>
                  <a:lnTo>
                    <a:pt x="1357" y="692"/>
                  </a:lnTo>
                  <a:cubicBezTo>
                    <a:pt x="1750" y="751"/>
                    <a:pt x="2048" y="1025"/>
                    <a:pt x="2048" y="1370"/>
                  </a:cubicBezTo>
                  <a:cubicBezTo>
                    <a:pt x="2048" y="1465"/>
                    <a:pt x="2131" y="1537"/>
                    <a:pt x="2215" y="1537"/>
                  </a:cubicBezTo>
                  <a:cubicBezTo>
                    <a:pt x="2298" y="1537"/>
                    <a:pt x="2381" y="1465"/>
                    <a:pt x="2381" y="1370"/>
                  </a:cubicBezTo>
                  <a:cubicBezTo>
                    <a:pt x="2381" y="846"/>
                    <a:pt x="1929" y="418"/>
                    <a:pt x="1345" y="358"/>
                  </a:cubicBezTo>
                  <a:lnTo>
                    <a:pt x="1345" y="168"/>
                  </a:lnTo>
                  <a:cubicBezTo>
                    <a:pt x="1345" y="72"/>
                    <a:pt x="1274" y="1"/>
                    <a:pt x="1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66FD413-FBE1-59EA-04D2-65724648AAF0}"/>
              </a:ext>
            </a:extLst>
          </p:cNvPr>
          <p:cNvSpPr txBox="1"/>
          <p:nvPr/>
        </p:nvSpPr>
        <p:spPr>
          <a:xfrm>
            <a:off x="201168" y="3524059"/>
            <a:ext cx="2084832" cy="30777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A" b="1">
                <a:solidFill>
                  <a:schemeClr val="tx2"/>
                </a:solidFill>
              </a:rPr>
              <a:t>Key Design Principle</a:t>
            </a:r>
            <a:endParaRPr lang="en-SA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F1C705-CA0F-11BE-AAE8-37E8CF38CA47}"/>
              </a:ext>
            </a:extLst>
          </p:cNvPr>
          <p:cNvSpPr txBox="1"/>
          <p:nvPr/>
        </p:nvSpPr>
        <p:spPr>
          <a:xfrm>
            <a:off x="54864" y="3968037"/>
            <a:ext cx="52486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>
                <a:solidFill>
                  <a:schemeClr val="tx2"/>
                </a:solidFill>
              </a:rPr>
              <a:t>GPT is invoked </a:t>
            </a:r>
            <a:r>
              <a:rPr lang="en-SA" b="1">
                <a:solidFill>
                  <a:schemeClr val="tx2"/>
                </a:solidFill>
              </a:rPr>
              <a:t>only</a:t>
            </a:r>
            <a:r>
              <a:rPr lang="en-SA">
                <a:solidFill>
                  <a:schemeClr val="tx2"/>
                </a:solidFill>
              </a:rPr>
              <a:t> for SAFE academic questions. All risky requests are intercepted and handled before reaching the language model — saving cost and protecting students.</a:t>
            </a:r>
          </a:p>
          <a:p>
            <a:endParaRPr lang="en-S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7A9CB-B02B-50D0-08E3-2B5E83539968}"/>
              </a:ext>
            </a:extLst>
          </p:cNvPr>
          <p:cNvSpPr txBox="1"/>
          <p:nvPr/>
        </p:nvSpPr>
        <p:spPr>
          <a:xfrm>
            <a:off x="5449824" y="4001657"/>
            <a:ext cx="3639312" cy="954107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n-SA">
                <a:solidFill>
                  <a:schemeClr val="tx2"/>
                </a:solidFill>
              </a:rPr>
              <a:t>DistilBERT acts as the core safety classifier, trained on 560 synthetic samples across 5 labels.</a:t>
            </a:r>
          </a:p>
          <a:p>
            <a:endParaRPr lang="en-S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A409F5-7B64-6C55-4617-F033E4BA7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426" y="804074"/>
            <a:ext cx="6230149" cy="30277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>
            <a:spLocks noGrp="1"/>
          </p:cNvSpPr>
          <p:nvPr>
            <p:ph type="title"/>
          </p:nvPr>
        </p:nvSpPr>
        <p:spPr>
          <a:xfrm>
            <a:off x="0" y="276272"/>
            <a:ext cx="2706624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SA" sz="2300"/>
              <a:t>Evaluation 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712632-CDE2-E02E-14D9-B7BA0E164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127289"/>
              </p:ext>
            </p:extLst>
          </p:nvPr>
        </p:nvGraphicFramePr>
        <p:xfrm>
          <a:off x="2120843" y="1009227"/>
          <a:ext cx="5232066" cy="330356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55488">
                  <a:extLst>
                    <a:ext uri="{9D8B030D-6E8A-4147-A177-3AD203B41FA5}">
                      <a16:colId xmlns:a16="http://schemas.microsoft.com/office/drawing/2014/main" val="2330609355"/>
                    </a:ext>
                  </a:extLst>
                </a:gridCol>
                <a:gridCol w="1025526">
                  <a:extLst>
                    <a:ext uri="{9D8B030D-6E8A-4147-A177-3AD203B41FA5}">
                      <a16:colId xmlns:a16="http://schemas.microsoft.com/office/drawing/2014/main" val="1913983861"/>
                    </a:ext>
                  </a:extLst>
                </a:gridCol>
                <a:gridCol w="1025526">
                  <a:extLst>
                    <a:ext uri="{9D8B030D-6E8A-4147-A177-3AD203B41FA5}">
                      <a16:colId xmlns:a16="http://schemas.microsoft.com/office/drawing/2014/main" val="3826165453"/>
                    </a:ext>
                  </a:extLst>
                </a:gridCol>
                <a:gridCol w="1025526">
                  <a:extLst>
                    <a:ext uri="{9D8B030D-6E8A-4147-A177-3AD203B41FA5}">
                      <a16:colId xmlns:a16="http://schemas.microsoft.com/office/drawing/2014/main" val="1035008473"/>
                    </a:ext>
                  </a:extLst>
                </a:gridCol>
              </a:tblGrid>
              <a:tr h="47193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b="0" cap="none" spc="0">
                          <a:solidFill>
                            <a:schemeClr val="tx2"/>
                          </a:solidFill>
                          <a:effectLst/>
                        </a:rPr>
                        <a:t>Label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b="0" cap="none" spc="0">
                          <a:solidFill>
                            <a:schemeClr val="tx2"/>
                          </a:solidFill>
                          <a:effectLst/>
                        </a:rPr>
                        <a:t>Prec.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b="0" cap="none" spc="0">
                          <a:solidFill>
                            <a:schemeClr val="tx2"/>
                          </a:solidFill>
                          <a:effectLst/>
                        </a:rPr>
                        <a:t>Recall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b="0" cap="none" spc="0">
                          <a:solidFill>
                            <a:schemeClr val="tx2"/>
                          </a:solidFill>
                          <a:effectLst/>
                        </a:rPr>
                        <a:t>F1</a:t>
                      </a:r>
                    </a:p>
                  </a:txBody>
                  <a:tcPr marL="129222" marR="37275" marT="99402" marB="99402" anchor="ctr"/>
                </a:tc>
                <a:extLst>
                  <a:ext uri="{0D108BD9-81ED-4DB2-BD59-A6C34878D82A}">
                    <a16:rowId xmlns:a16="http://schemas.microsoft.com/office/drawing/2014/main" val="1194028605"/>
                  </a:ext>
                </a:extLst>
              </a:tr>
              <a:tr h="47193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SAFE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100.0%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75.0%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86.0%</a:t>
                      </a:r>
                    </a:p>
                  </a:txBody>
                  <a:tcPr marL="129222" marR="37275" marT="99402" marB="99402" anchor="ctr"/>
                </a:tc>
                <a:extLst>
                  <a:ext uri="{0D108BD9-81ED-4DB2-BD59-A6C34878D82A}">
                    <a16:rowId xmlns:a16="http://schemas.microsoft.com/office/drawing/2014/main" val="3370484167"/>
                  </a:ext>
                </a:extLst>
              </a:tr>
              <a:tr h="47193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UNSAFE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87.0%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100.0%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93.0%</a:t>
                      </a:r>
                    </a:p>
                  </a:txBody>
                  <a:tcPr marL="129222" marR="37275" marT="99402" marB="99402" anchor="ctr"/>
                </a:tc>
                <a:extLst>
                  <a:ext uri="{0D108BD9-81ED-4DB2-BD59-A6C34878D82A}">
                    <a16:rowId xmlns:a16="http://schemas.microsoft.com/office/drawing/2014/main" val="2710888594"/>
                  </a:ext>
                </a:extLst>
              </a:tr>
              <a:tr h="47193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SENSITIVE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91.0%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100.0%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95.0%</a:t>
                      </a:r>
                    </a:p>
                  </a:txBody>
                  <a:tcPr marL="129222" marR="37275" marT="99402" marB="99402" anchor="ctr"/>
                </a:tc>
                <a:extLst>
                  <a:ext uri="{0D108BD9-81ED-4DB2-BD59-A6C34878D82A}">
                    <a16:rowId xmlns:a16="http://schemas.microsoft.com/office/drawing/2014/main" val="1278052446"/>
                  </a:ext>
                </a:extLst>
              </a:tr>
              <a:tr h="47193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PROMPT_INJ.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100.0%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100.0%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100.0%</a:t>
                      </a:r>
                    </a:p>
                  </a:txBody>
                  <a:tcPr marL="129222" marR="37275" marT="99402" marB="99402" anchor="ctr"/>
                </a:tc>
                <a:extLst>
                  <a:ext uri="{0D108BD9-81ED-4DB2-BD59-A6C34878D82A}">
                    <a16:rowId xmlns:a16="http://schemas.microsoft.com/office/drawing/2014/main" val="2597662750"/>
                  </a:ext>
                </a:extLst>
              </a:tr>
              <a:tr h="47193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OUT_OF_SCOPE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100.0%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100.0%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100.0%</a:t>
                      </a:r>
                    </a:p>
                  </a:txBody>
                  <a:tcPr marL="129222" marR="37275" marT="99402" marB="99402" anchor="ctr"/>
                </a:tc>
                <a:extLst>
                  <a:ext uri="{0D108BD9-81ED-4DB2-BD59-A6C34878D82A}">
                    <a16:rowId xmlns:a16="http://schemas.microsoft.com/office/drawing/2014/main" val="200012873"/>
                  </a:ext>
                </a:extLst>
              </a:tr>
              <a:tr h="47193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b="1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Macro Avg</a:t>
                      </a:r>
                      <a:endParaRPr lang="en-SA" sz="1500" cap="none" spc="0">
                        <a:solidFill>
                          <a:schemeClr val="tx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96.0%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95.0%</a:t>
                      </a:r>
                    </a:p>
                  </a:txBody>
                  <a:tcPr marL="129222" marR="37275" marT="99402" marB="99402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SA" sz="1500" b="1" cap="none" spc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95.0%</a:t>
                      </a:r>
                      <a:endParaRPr lang="en-SA" sz="1500" cap="none" spc="0">
                        <a:solidFill>
                          <a:schemeClr val="tx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129222" marR="37275" marT="99402" marB="99402" anchor="ctr"/>
                </a:tc>
                <a:extLst>
                  <a:ext uri="{0D108BD9-81ED-4DB2-BD59-A6C34878D82A}">
                    <a16:rowId xmlns:a16="http://schemas.microsoft.com/office/drawing/2014/main" val="40689172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>
            <a:spLocks noGrp="1"/>
          </p:cNvSpPr>
          <p:nvPr>
            <p:ph type="title"/>
          </p:nvPr>
        </p:nvSpPr>
        <p:spPr>
          <a:xfrm>
            <a:off x="0" y="260587"/>
            <a:ext cx="2928395" cy="8516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SA"/>
              <a:t>Cost &amp; Ethics</a:t>
            </a:r>
          </a:p>
        </p:txBody>
      </p:sp>
      <p:sp>
        <p:nvSpPr>
          <p:cNvPr id="215" name="Google Shape;215;p21"/>
          <p:cNvSpPr txBox="1"/>
          <p:nvPr/>
        </p:nvSpPr>
        <p:spPr>
          <a:xfrm flipH="1">
            <a:off x="388332" y="1118671"/>
            <a:ext cx="4183668" cy="1924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SA" b="1">
                <a:solidFill>
                  <a:schemeClr val="tx2"/>
                </a:solidFill>
              </a:rPr>
              <a:t>Cost-Aware Design</a:t>
            </a:r>
          </a:p>
          <a:p>
            <a:endParaRPr lang="en-SA" b="1">
              <a:solidFill>
                <a:schemeClr val="tx2"/>
              </a:solidFill>
            </a:endParaRPr>
          </a:p>
          <a:p>
            <a:r>
              <a:rPr lang="en-SA">
                <a:solidFill>
                  <a:schemeClr val="tx2"/>
                </a:solidFill>
              </a:rPr>
              <a:t>GPT runs only for SAFE academic questions</a:t>
            </a:r>
          </a:p>
          <a:p>
            <a:r>
              <a:rPr lang="en-SA">
                <a:solidFill>
                  <a:schemeClr val="tx2"/>
                </a:solidFill>
              </a:rPr>
              <a:t>Unsafe and irrelevant requests never reach GPT</a:t>
            </a:r>
          </a:p>
          <a:p>
            <a:r>
              <a:rPr lang="en-SA">
                <a:solidFill>
                  <a:schemeClr val="tx2"/>
                </a:solidFill>
              </a:rPr>
              <a:t>Significant reduction in API cost at scale</a:t>
            </a:r>
          </a:p>
          <a:p>
            <a:endParaRPr lang="en-SA">
              <a:solidFill>
                <a:schemeClr val="tx2"/>
              </a:solidFill>
            </a:endParaRPr>
          </a:p>
        </p:txBody>
      </p:sp>
      <p:sp>
        <p:nvSpPr>
          <p:cNvPr id="220" name="Google Shape;220;p21"/>
          <p:cNvSpPr txBox="1"/>
          <p:nvPr/>
        </p:nvSpPr>
        <p:spPr>
          <a:xfrm flipH="1">
            <a:off x="388331" y="3140225"/>
            <a:ext cx="5387435" cy="174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SA" sz="1600" b="1">
                <a:solidFill>
                  <a:schemeClr val="tx2"/>
                </a:solidFill>
              </a:rPr>
              <a:t>Ethics</a:t>
            </a:r>
          </a:p>
          <a:p>
            <a:endParaRPr lang="en-SA" sz="1600" b="1">
              <a:solidFill>
                <a:schemeClr val="tx2"/>
              </a:solidFill>
            </a:endParaRPr>
          </a:p>
          <a:p>
            <a:r>
              <a:rPr lang="en-SA" sz="1600">
                <a:solidFill>
                  <a:schemeClr val="tx2"/>
                </a:solidFill>
              </a:rPr>
              <a:t>No real student data used</a:t>
            </a:r>
          </a:p>
          <a:p>
            <a:r>
              <a:rPr lang="en-SA" sz="1600">
                <a:solidFill>
                  <a:schemeClr val="tx2"/>
                </a:solidFill>
              </a:rPr>
              <a:t>Sensitive cases escalated to human review</a:t>
            </a:r>
          </a:p>
          <a:p>
            <a:r>
              <a:rPr lang="en-SA" sz="1600">
                <a:solidFill>
                  <a:schemeClr val="tx2"/>
                </a:solidFill>
              </a:rPr>
              <a:t>Prompt injection fully blocked</a:t>
            </a:r>
          </a:p>
          <a:p>
            <a:endParaRPr lang="en-SA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6352-E737-60E6-D17E-3911C0AFE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66" y="192260"/>
            <a:ext cx="3199018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SA" sz="2800"/>
              <a:t>Future Work</a:t>
            </a:r>
          </a:p>
        </p:txBody>
      </p:sp>
      <p:graphicFrame>
        <p:nvGraphicFramePr>
          <p:cNvPr id="7" name="Google Shape;225;p21">
            <a:extLst>
              <a:ext uri="{FF2B5EF4-FFF2-40B4-BE49-F238E27FC236}">
                <a16:creationId xmlns:a16="http://schemas.microsoft.com/office/drawing/2014/main" id="{6986AE71-BC7E-9A0E-AA49-B9E067BF8E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7356951"/>
              </p:ext>
            </p:extLst>
          </p:nvPr>
        </p:nvGraphicFramePr>
        <p:xfrm>
          <a:off x="713225" y="1302700"/>
          <a:ext cx="77175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7945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/>
          <p:nvPr/>
        </p:nvSpPr>
        <p:spPr>
          <a:xfrm>
            <a:off x="3940986" y="443139"/>
            <a:ext cx="457200" cy="457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title"/>
          </p:nvPr>
        </p:nvSpPr>
        <p:spPr>
          <a:xfrm>
            <a:off x="-583100" y="385389"/>
            <a:ext cx="509077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SA"/>
              <a:t>Implementation Demo</a:t>
            </a:r>
          </a:p>
        </p:txBody>
      </p:sp>
      <p:grpSp>
        <p:nvGrpSpPr>
          <p:cNvPr id="308" name="Google Shape;308;p22"/>
          <p:cNvGrpSpPr/>
          <p:nvPr/>
        </p:nvGrpSpPr>
        <p:grpSpPr>
          <a:xfrm>
            <a:off x="8039577" y="3561692"/>
            <a:ext cx="320362" cy="306516"/>
            <a:chOff x="3950316" y="3820307"/>
            <a:chExt cx="369805" cy="353782"/>
          </a:xfrm>
        </p:grpSpPr>
        <p:sp>
          <p:nvSpPr>
            <p:cNvPr id="309" name="Google Shape;309;p22"/>
            <p:cNvSpPr/>
            <p:nvPr/>
          </p:nvSpPr>
          <p:spPr>
            <a:xfrm>
              <a:off x="4040561" y="3880991"/>
              <a:ext cx="99802" cy="28383"/>
            </a:xfrm>
            <a:custGeom>
              <a:avLst/>
              <a:gdLst/>
              <a:ahLst/>
              <a:cxnLst/>
              <a:rect l="l" t="t" r="r" b="b"/>
              <a:pathLst>
                <a:path w="3133" h="891" extrusionOk="0">
                  <a:moveTo>
                    <a:pt x="1572" y="1"/>
                  </a:moveTo>
                  <a:cubicBezTo>
                    <a:pt x="1001" y="1"/>
                    <a:pt x="465" y="227"/>
                    <a:pt x="60" y="632"/>
                  </a:cubicBezTo>
                  <a:cubicBezTo>
                    <a:pt x="1" y="691"/>
                    <a:pt x="1" y="787"/>
                    <a:pt x="60" y="846"/>
                  </a:cubicBezTo>
                  <a:cubicBezTo>
                    <a:pt x="84" y="876"/>
                    <a:pt x="123" y="891"/>
                    <a:pt x="165" y="891"/>
                  </a:cubicBezTo>
                  <a:cubicBezTo>
                    <a:pt x="206" y="891"/>
                    <a:pt x="251" y="876"/>
                    <a:pt x="287" y="846"/>
                  </a:cubicBezTo>
                  <a:cubicBezTo>
                    <a:pt x="632" y="513"/>
                    <a:pt x="1072" y="310"/>
                    <a:pt x="1572" y="310"/>
                  </a:cubicBezTo>
                  <a:cubicBezTo>
                    <a:pt x="2061" y="310"/>
                    <a:pt x="2501" y="513"/>
                    <a:pt x="2846" y="846"/>
                  </a:cubicBezTo>
                  <a:cubicBezTo>
                    <a:pt x="2876" y="876"/>
                    <a:pt x="2918" y="891"/>
                    <a:pt x="2960" y="891"/>
                  </a:cubicBezTo>
                  <a:cubicBezTo>
                    <a:pt x="3001" y="891"/>
                    <a:pt x="3043" y="876"/>
                    <a:pt x="3073" y="846"/>
                  </a:cubicBezTo>
                  <a:cubicBezTo>
                    <a:pt x="3132" y="787"/>
                    <a:pt x="3132" y="691"/>
                    <a:pt x="3073" y="632"/>
                  </a:cubicBezTo>
                  <a:cubicBezTo>
                    <a:pt x="2668" y="227"/>
                    <a:pt x="2132" y="1"/>
                    <a:pt x="15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3950316" y="3820307"/>
              <a:ext cx="369805" cy="353782"/>
            </a:xfrm>
            <a:custGeom>
              <a:avLst/>
              <a:gdLst/>
              <a:ahLst/>
              <a:cxnLst/>
              <a:rect l="l" t="t" r="r" b="b"/>
              <a:pathLst>
                <a:path w="11609" h="11106" extrusionOk="0">
                  <a:moveTo>
                    <a:pt x="7358" y="6728"/>
                  </a:moveTo>
                  <a:lnTo>
                    <a:pt x="7799" y="7156"/>
                  </a:lnTo>
                  <a:lnTo>
                    <a:pt x="7513" y="7442"/>
                  </a:lnTo>
                  <a:lnTo>
                    <a:pt x="7084" y="7014"/>
                  </a:lnTo>
                  <a:cubicBezTo>
                    <a:pt x="7180" y="6918"/>
                    <a:pt x="7275" y="6835"/>
                    <a:pt x="7358" y="6728"/>
                  </a:cubicBezTo>
                  <a:close/>
                  <a:moveTo>
                    <a:pt x="4395" y="358"/>
                  </a:moveTo>
                  <a:cubicBezTo>
                    <a:pt x="5337" y="358"/>
                    <a:pt x="6281" y="715"/>
                    <a:pt x="7001" y="1429"/>
                  </a:cubicBezTo>
                  <a:cubicBezTo>
                    <a:pt x="8370" y="2799"/>
                    <a:pt x="8430" y="4942"/>
                    <a:pt x="7239" y="6382"/>
                  </a:cubicBezTo>
                  <a:cubicBezTo>
                    <a:pt x="7096" y="6561"/>
                    <a:pt x="6930" y="6728"/>
                    <a:pt x="6763" y="6859"/>
                  </a:cubicBezTo>
                  <a:cubicBezTo>
                    <a:pt x="6075" y="7434"/>
                    <a:pt x="5230" y="7723"/>
                    <a:pt x="4386" y="7723"/>
                  </a:cubicBezTo>
                  <a:cubicBezTo>
                    <a:pt x="3448" y="7723"/>
                    <a:pt x="2513" y="7365"/>
                    <a:pt x="1798" y="6644"/>
                  </a:cubicBezTo>
                  <a:cubicBezTo>
                    <a:pt x="357" y="5192"/>
                    <a:pt x="357" y="2870"/>
                    <a:pt x="1798" y="1429"/>
                  </a:cubicBezTo>
                  <a:cubicBezTo>
                    <a:pt x="2512" y="715"/>
                    <a:pt x="3453" y="358"/>
                    <a:pt x="4395" y="358"/>
                  </a:cubicBezTo>
                  <a:close/>
                  <a:moveTo>
                    <a:pt x="8226" y="7228"/>
                  </a:moveTo>
                  <a:cubicBezTo>
                    <a:pt x="8260" y="7228"/>
                    <a:pt x="8293" y="7240"/>
                    <a:pt x="8311" y="7264"/>
                  </a:cubicBezTo>
                  <a:lnTo>
                    <a:pt x="8763" y="7668"/>
                  </a:lnTo>
                  <a:lnTo>
                    <a:pt x="8001" y="8430"/>
                  </a:lnTo>
                  <a:lnTo>
                    <a:pt x="7620" y="7966"/>
                  </a:lnTo>
                  <a:cubicBezTo>
                    <a:pt x="7573" y="7918"/>
                    <a:pt x="7573" y="7835"/>
                    <a:pt x="7620" y="7787"/>
                  </a:cubicBezTo>
                  <a:lnTo>
                    <a:pt x="8132" y="7264"/>
                  </a:lnTo>
                  <a:cubicBezTo>
                    <a:pt x="8156" y="7240"/>
                    <a:pt x="8192" y="7228"/>
                    <a:pt x="8226" y="7228"/>
                  </a:cubicBezTo>
                  <a:close/>
                  <a:moveTo>
                    <a:pt x="9013" y="7871"/>
                  </a:moveTo>
                  <a:lnTo>
                    <a:pt x="10871" y="9514"/>
                  </a:lnTo>
                  <a:cubicBezTo>
                    <a:pt x="11192" y="9800"/>
                    <a:pt x="11204" y="10276"/>
                    <a:pt x="10906" y="10573"/>
                  </a:cubicBezTo>
                  <a:cubicBezTo>
                    <a:pt x="10765" y="10715"/>
                    <a:pt x="10580" y="10784"/>
                    <a:pt x="10396" y="10784"/>
                  </a:cubicBezTo>
                  <a:cubicBezTo>
                    <a:pt x="10193" y="10784"/>
                    <a:pt x="9990" y="10700"/>
                    <a:pt x="9847" y="10538"/>
                  </a:cubicBezTo>
                  <a:lnTo>
                    <a:pt x="8227" y="8668"/>
                  </a:lnTo>
                  <a:lnTo>
                    <a:pt x="9013" y="7871"/>
                  </a:lnTo>
                  <a:close/>
                  <a:moveTo>
                    <a:pt x="4423" y="1"/>
                  </a:moveTo>
                  <a:cubicBezTo>
                    <a:pt x="3396" y="1"/>
                    <a:pt x="2370" y="394"/>
                    <a:pt x="1584" y="1179"/>
                  </a:cubicBezTo>
                  <a:cubicBezTo>
                    <a:pt x="0" y="2775"/>
                    <a:pt x="0" y="5299"/>
                    <a:pt x="1560" y="6883"/>
                  </a:cubicBezTo>
                  <a:cubicBezTo>
                    <a:pt x="2340" y="7663"/>
                    <a:pt x="3364" y="8052"/>
                    <a:pt x="4389" y="8052"/>
                  </a:cubicBezTo>
                  <a:cubicBezTo>
                    <a:pt x="5257" y="8052"/>
                    <a:pt x="6126" y="7773"/>
                    <a:pt x="6846" y="7216"/>
                  </a:cubicBezTo>
                  <a:lnTo>
                    <a:pt x="7323" y="7692"/>
                  </a:lnTo>
                  <a:cubicBezTo>
                    <a:pt x="7239" y="7859"/>
                    <a:pt x="7263" y="8049"/>
                    <a:pt x="7394" y="8180"/>
                  </a:cubicBezTo>
                  <a:lnTo>
                    <a:pt x="9644" y="10752"/>
                  </a:lnTo>
                  <a:cubicBezTo>
                    <a:pt x="9847" y="10986"/>
                    <a:pt x="10133" y="11105"/>
                    <a:pt x="10421" y="11105"/>
                  </a:cubicBezTo>
                  <a:cubicBezTo>
                    <a:pt x="10690" y="11105"/>
                    <a:pt x="10961" y="11001"/>
                    <a:pt x="11168" y="10788"/>
                  </a:cubicBezTo>
                  <a:cubicBezTo>
                    <a:pt x="11609" y="10359"/>
                    <a:pt x="11573" y="9657"/>
                    <a:pt x="11133" y="9264"/>
                  </a:cubicBezTo>
                  <a:lnTo>
                    <a:pt x="8573" y="7014"/>
                  </a:lnTo>
                  <a:cubicBezTo>
                    <a:pt x="8483" y="6939"/>
                    <a:pt x="8369" y="6897"/>
                    <a:pt x="8259" y="6897"/>
                  </a:cubicBezTo>
                  <a:cubicBezTo>
                    <a:pt x="8194" y="6897"/>
                    <a:pt x="8130" y="6911"/>
                    <a:pt x="8073" y="6942"/>
                  </a:cubicBezTo>
                  <a:lnTo>
                    <a:pt x="7596" y="6454"/>
                  </a:lnTo>
                  <a:cubicBezTo>
                    <a:pt x="8811" y="4894"/>
                    <a:pt x="8704" y="2632"/>
                    <a:pt x="7263" y="1179"/>
                  </a:cubicBezTo>
                  <a:cubicBezTo>
                    <a:pt x="6477" y="394"/>
                    <a:pt x="5450" y="1"/>
                    <a:pt x="4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2"/>
            <p:cNvSpPr/>
            <p:nvPr/>
          </p:nvSpPr>
          <p:spPr>
            <a:xfrm>
              <a:off x="4098219" y="3850602"/>
              <a:ext cx="101299" cy="195781"/>
            </a:xfrm>
            <a:custGeom>
              <a:avLst/>
              <a:gdLst/>
              <a:ahLst/>
              <a:cxnLst/>
              <a:rect l="l" t="t" r="r" b="b"/>
              <a:pathLst>
                <a:path w="3180" h="6146" extrusionOk="0">
                  <a:moveTo>
                    <a:pt x="194" y="1"/>
                  </a:moveTo>
                  <a:cubicBezTo>
                    <a:pt x="120" y="1"/>
                    <a:pt x="58" y="57"/>
                    <a:pt x="36" y="133"/>
                  </a:cubicBezTo>
                  <a:cubicBezTo>
                    <a:pt x="24" y="228"/>
                    <a:pt x="84" y="300"/>
                    <a:pt x="179" y="312"/>
                  </a:cubicBezTo>
                  <a:cubicBezTo>
                    <a:pt x="775" y="407"/>
                    <a:pt x="1322" y="669"/>
                    <a:pt x="1739" y="1110"/>
                  </a:cubicBezTo>
                  <a:cubicBezTo>
                    <a:pt x="2822" y="2193"/>
                    <a:pt x="2822" y="3967"/>
                    <a:pt x="1739" y="5050"/>
                  </a:cubicBezTo>
                  <a:cubicBezTo>
                    <a:pt x="1286" y="5479"/>
                    <a:pt x="739" y="5765"/>
                    <a:pt x="143" y="5836"/>
                  </a:cubicBezTo>
                  <a:cubicBezTo>
                    <a:pt x="60" y="5848"/>
                    <a:pt x="1" y="5932"/>
                    <a:pt x="13" y="6015"/>
                  </a:cubicBezTo>
                  <a:cubicBezTo>
                    <a:pt x="24" y="6086"/>
                    <a:pt x="84" y="6146"/>
                    <a:pt x="179" y="6146"/>
                  </a:cubicBezTo>
                  <a:lnTo>
                    <a:pt x="203" y="6146"/>
                  </a:lnTo>
                  <a:cubicBezTo>
                    <a:pt x="870" y="6063"/>
                    <a:pt x="1489" y="5753"/>
                    <a:pt x="1977" y="5277"/>
                  </a:cubicBezTo>
                  <a:cubicBezTo>
                    <a:pt x="3180" y="4062"/>
                    <a:pt x="3180" y="2086"/>
                    <a:pt x="1977" y="883"/>
                  </a:cubicBezTo>
                  <a:cubicBezTo>
                    <a:pt x="1501" y="407"/>
                    <a:pt x="894" y="97"/>
                    <a:pt x="215" y="2"/>
                  </a:cubicBezTo>
                  <a:cubicBezTo>
                    <a:pt x="208" y="1"/>
                    <a:pt x="201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3981789" y="3849136"/>
              <a:ext cx="103178" cy="198011"/>
            </a:xfrm>
            <a:custGeom>
              <a:avLst/>
              <a:gdLst/>
              <a:ahLst/>
              <a:cxnLst/>
              <a:rect l="l" t="t" r="r" b="b"/>
              <a:pathLst>
                <a:path w="3239" h="6216" extrusionOk="0">
                  <a:moveTo>
                    <a:pt x="3036" y="1"/>
                  </a:moveTo>
                  <a:cubicBezTo>
                    <a:pt x="2346" y="120"/>
                    <a:pt x="1703" y="441"/>
                    <a:pt x="1215" y="929"/>
                  </a:cubicBezTo>
                  <a:cubicBezTo>
                    <a:pt x="0" y="2132"/>
                    <a:pt x="0" y="4108"/>
                    <a:pt x="1215" y="5323"/>
                  </a:cubicBezTo>
                  <a:cubicBezTo>
                    <a:pt x="1715" y="5823"/>
                    <a:pt x="2346" y="6120"/>
                    <a:pt x="3036" y="6216"/>
                  </a:cubicBezTo>
                  <a:lnTo>
                    <a:pt x="3060" y="6216"/>
                  </a:lnTo>
                  <a:cubicBezTo>
                    <a:pt x="3132" y="6216"/>
                    <a:pt x="3203" y="6156"/>
                    <a:pt x="3215" y="6061"/>
                  </a:cubicBezTo>
                  <a:cubicBezTo>
                    <a:pt x="3239" y="5978"/>
                    <a:pt x="3156" y="5894"/>
                    <a:pt x="3072" y="5882"/>
                  </a:cubicBezTo>
                  <a:cubicBezTo>
                    <a:pt x="2441" y="5811"/>
                    <a:pt x="1882" y="5537"/>
                    <a:pt x="1429" y="5085"/>
                  </a:cubicBezTo>
                  <a:cubicBezTo>
                    <a:pt x="346" y="3989"/>
                    <a:pt x="346" y="2215"/>
                    <a:pt x="1429" y="1132"/>
                  </a:cubicBezTo>
                  <a:cubicBezTo>
                    <a:pt x="1882" y="691"/>
                    <a:pt x="2441" y="405"/>
                    <a:pt x="3072" y="334"/>
                  </a:cubicBezTo>
                  <a:cubicBezTo>
                    <a:pt x="3156" y="322"/>
                    <a:pt x="3215" y="239"/>
                    <a:pt x="3215" y="155"/>
                  </a:cubicBezTo>
                  <a:cubicBezTo>
                    <a:pt x="3203" y="60"/>
                    <a:pt x="3132" y="1"/>
                    <a:pt x="3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3" name="Google Shape;313;p22"/>
          <p:cNvGrpSpPr/>
          <p:nvPr/>
        </p:nvGrpSpPr>
        <p:grpSpPr>
          <a:xfrm>
            <a:off x="3993123" y="548949"/>
            <a:ext cx="320369" cy="245580"/>
            <a:chOff x="2567841" y="1994124"/>
            <a:chExt cx="399812" cy="306477"/>
          </a:xfrm>
        </p:grpSpPr>
        <p:sp>
          <p:nvSpPr>
            <p:cNvPr id="314" name="Google Shape;314;p22"/>
            <p:cNvSpPr/>
            <p:nvPr/>
          </p:nvSpPr>
          <p:spPr>
            <a:xfrm>
              <a:off x="2567841" y="1994124"/>
              <a:ext cx="399812" cy="306477"/>
            </a:xfrm>
            <a:custGeom>
              <a:avLst/>
              <a:gdLst/>
              <a:ahLst/>
              <a:cxnLst/>
              <a:rect l="l" t="t" r="r" b="b"/>
              <a:pathLst>
                <a:path w="12551" h="9621" extrusionOk="0">
                  <a:moveTo>
                    <a:pt x="11157" y="346"/>
                  </a:moveTo>
                  <a:lnTo>
                    <a:pt x="11157" y="6584"/>
                  </a:lnTo>
                  <a:lnTo>
                    <a:pt x="1334" y="6584"/>
                  </a:lnTo>
                  <a:lnTo>
                    <a:pt x="1334" y="346"/>
                  </a:lnTo>
                  <a:close/>
                  <a:moveTo>
                    <a:pt x="7442" y="7930"/>
                  </a:moveTo>
                  <a:lnTo>
                    <a:pt x="7621" y="8561"/>
                  </a:lnTo>
                  <a:lnTo>
                    <a:pt x="4859" y="8561"/>
                  </a:lnTo>
                  <a:lnTo>
                    <a:pt x="5037" y="7930"/>
                  </a:lnTo>
                  <a:close/>
                  <a:moveTo>
                    <a:pt x="11217" y="6954"/>
                  </a:moveTo>
                  <a:lnTo>
                    <a:pt x="12038" y="8561"/>
                  </a:lnTo>
                  <a:lnTo>
                    <a:pt x="7990" y="8561"/>
                  </a:lnTo>
                  <a:lnTo>
                    <a:pt x="7776" y="7835"/>
                  </a:lnTo>
                  <a:cubicBezTo>
                    <a:pt x="7740" y="7680"/>
                    <a:pt x="7597" y="7573"/>
                    <a:pt x="7454" y="7573"/>
                  </a:cubicBezTo>
                  <a:lnTo>
                    <a:pt x="5013" y="7573"/>
                  </a:lnTo>
                  <a:cubicBezTo>
                    <a:pt x="4859" y="7573"/>
                    <a:pt x="4716" y="7680"/>
                    <a:pt x="4680" y="7835"/>
                  </a:cubicBezTo>
                  <a:lnTo>
                    <a:pt x="4478" y="8561"/>
                  </a:lnTo>
                  <a:lnTo>
                    <a:pt x="430" y="8561"/>
                  </a:lnTo>
                  <a:lnTo>
                    <a:pt x="1263" y="6954"/>
                  </a:lnTo>
                  <a:close/>
                  <a:moveTo>
                    <a:pt x="12157" y="8930"/>
                  </a:moveTo>
                  <a:lnTo>
                    <a:pt x="12157" y="9216"/>
                  </a:lnTo>
                  <a:lnTo>
                    <a:pt x="12169" y="9216"/>
                  </a:lnTo>
                  <a:cubicBezTo>
                    <a:pt x="12169" y="9239"/>
                    <a:pt x="12145" y="9275"/>
                    <a:pt x="12110" y="9275"/>
                  </a:cubicBezTo>
                  <a:lnTo>
                    <a:pt x="382" y="9275"/>
                  </a:lnTo>
                  <a:cubicBezTo>
                    <a:pt x="346" y="9275"/>
                    <a:pt x="322" y="9239"/>
                    <a:pt x="322" y="9216"/>
                  </a:cubicBezTo>
                  <a:lnTo>
                    <a:pt x="322" y="8930"/>
                  </a:lnTo>
                  <a:close/>
                  <a:moveTo>
                    <a:pt x="1334" y="0"/>
                  </a:moveTo>
                  <a:cubicBezTo>
                    <a:pt x="1144" y="0"/>
                    <a:pt x="977" y="167"/>
                    <a:pt x="977" y="357"/>
                  </a:cubicBezTo>
                  <a:lnTo>
                    <a:pt x="977" y="6739"/>
                  </a:lnTo>
                  <a:lnTo>
                    <a:pt x="1" y="8680"/>
                  </a:lnTo>
                  <a:lnTo>
                    <a:pt x="1" y="8692"/>
                  </a:lnTo>
                  <a:lnTo>
                    <a:pt x="1" y="8704"/>
                  </a:lnTo>
                  <a:lnTo>
                    <a:pt x="1" y="8728"/>
                  </a:lnTo>
                  <a:lnTo>
                    <a:pt x="1" y="8739"/>
                  </a:lnTo>
                  <a:lnTo>
                    <a:pt x="1" y="9204"/>
                  </a:lnTo>
                  <a:cubicBezTo>
                    <a:pt x="1" y="9442"/>
                    <a:pt x="191" y="9620"/>
                    <a:pt x="406" y="9620"/>
                  </a:cubicBezTo>
                  <a:lnTo>
                    <a:pt x="12133" y="9620"/>
                  </a:lnTo>
                  <a:cubicBezTo>
                    <a:pt x="12371" y="9620"/>
                    <a:pt x="12550" y="9418"/>
                    <a:pt x="12550" y="9204"/>
                  </a:cubicBezTo>
                  <a:lnTo>
                    <a:pt x="12526" y="8739"/>
                  </a:lnTo>
                  <a:lnTo>
                    <a:pt x="12526" y="8704"/>
                  </a:lnTo>
                  <a:lnTo>
                    <a:pt x="12526" y="8692"/>
                  </a:lnTo>
                  <a:lnTo>
                    <a:pt x="12526" y="8680"/>
                  </a:lnTo>
                  <a:lnTo>
                    <a:pt x="11550" y="6739"/>
                  </a:lnTo>
                  <a:lnTo>
                    <a:pt x="11550" y="357"/>
                  </a:lnTo>
                  <a:cubicBezTo>
                    <a:pt x="11550" y="167"/>
                    <a:pt x="11383" y="0"/>
                    <a:pt x="11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2623237" y="2113963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179" y="1"/>
                  </a:moveTo>
                  <a:cubicBezTo>
                    <a:pt x="72" y="1"/>
                    <a:pt x="0" y="96"/>
                    <a:pt x="0" y="179"/>
                  </a:cubicBezTo>
                  <a:lnTo>
                    <a:pt x="0" y="2132"/>
                  </a:lnTo>
                  <a:cubicBezTo>
                    <a:pt x="0" y="2299"/>
                    <a:pt x="131" y="2418"/>
                    <a:pt x="274" y="2418"/>
                  </a:cubicBezTo>
                  <a:lnTo>
                    <a:pt x="8727" y="2418"/>
                  </a:lnTo>
                  <a:cubicBezTo>
                    <a:pt x="8894" y="2418"/>
                    <a:pt x="9013" y="2287"/>
                    <a:pt x="9013" y="2132"/>
                  </a:cubicBezTo>
                  <a:lnTo>
                    <a:pt x="9013" y="179"/>
                  </a:lnTo>
                  <a:cubicBezTo>
                    <a:pt x="9025" y="96"/>
                    <a:pt x="8942" y="1"/>
                    <a:pt x="8835" y="1"/>
                  </a:cubicBezTo>
                  <a:cubicBezTo>
                    <a:pt x="8727" y="1"/>
                    <a:pt x="8656" y="96"/>
                    <a:pt x="8656" y="179"/>
                  </a:cubicBezTo>
                  <a:lnTo>
                    <a:pt x="8656" y="2049"/>
                  </a:lnTo>
                  <a:lnTo>
                    <a:pt x="357" y="2049"/>
                  </a:lnTo>
                  <a:lnTo>
                    <a:pt x="357" y="179"/>
                  </a:lnTo>
                  <a:cubicBezTo>
                    <a:pt x="357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2623237" y="2017251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286" y="1"/>
                  </a:moveTo>
                  <a:cubicBezTo>
                    <a:pt x="119" y="1"/>
                    <a:pt x="0" y="143"/>
                    <a:pt x="0" y="286"/>
                  </a:cubicBezTo>
                  <a:lnTo>
                    <a:pt x="0" y="2239"/>
                  </a:lnTo>
                  <a:cubicBezTo>
                    <a:pt x="0" y="2346"/>
                    <a:pt x="84" y="2418"/>
                    <a:pt x="179" y="2418"/>
                  </a:cubicBezTo>
                  <a:cubicBezTo>
                    <a:pt x="286" y="2418"/>
                    <a:pt x="357" y="2322"/>
                    <a:pt x="357" y="2239"/>
                  </a:cubicBezTo>
                  <a:lnTo>
                    <a:pt x="357" y="382"/>
                  </a:lnTo>
                  <a:lnTo>
                    <a:pt x="8656" y="382"/>
                  </a:lnTo>
                  <a:lnTo>
                    <a:pt x="8656" y="2239"/>
                  </a:lnTo>
                  <a:cubicBezTo>
                    <a:pt x="8656" y="2346"/>
                    <a:pt x="8751" y="2418"/>
                    <a:pt x="8835" y="2418"/>
                  </a:cubicBezTo>
                  <a:cubicBezTo>
                    <a:pt x="8942" y="2418"/>
                    <a:pt x="9013" y="2322"/>
                    <a:pt x="9013" y="2239"/>
                  </a:cubicBezTo>
                  <a:lnTo>
                    <a:pt x="9013" y="286"/>
                  </a:lnTo>
                  <a:cubicBezTo>
                    <a:pt x="9025" y="143"/>
                    <a:pt x="8894" y="1"/>
                    <a:pt x="8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22"/>
          <p:cNvSpPr/>
          <p:nvPr/>
        </p:nvSpPr>
        <p:spPr>
          <a:xfrm>
            <a:off x="8039587" y="2144580"/>
            <a:ext cx="320341" cy="261090"/>
          </a:xfrm>
          <a:custGeom>
            <a:avLst/>
            <a:gdLst/>
            <a:ahLst/>
            <a:cxnLst/>
            <a:rect l="l" t="t" r="r" b="b"/>
            <a:pathLst>
              <a:path w="11943" h="9734" extrusionOk="0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8" name="Google Shape;318;p22"/>
          <p:cNvGrpSpPr/>
          <p:nvPr/>
        </p:nvGrpSpPr>
        <p:grpSpPr>
          <a:xfrm>
            <a:off x="815166" y="2144569"/>
            <a:ext cx="261963" cy="261112"/>
            <a:chOff x="852385" y="1510916"/>
            <a:chExt cx="353145" cy="351998"/>
          </a:xfrm>
        </p:grpSpPr>
        <p:sp>
          <p:nvSpPr>
            <p:cNvPr id="319" name="Google Shape;319;p22"/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8" name="Google Shape;328;p22"/>
          <p:cNvGrpSpPr/>
          <p:nvPr/>
        </p:nvGrpSpPr>
        <p:grpSpPr>
          <a:xfrm>
            <a:off x="4335492" y="2582996"/>
            <a:ext cx="172181" cy="164721"/>
            <a:chOff x="3950316" y="3820307"/>
            <a:chExt cx="369805" cy="353782"/>
          </a:xfrm>
        </p:grpSpPr>
        <p:sp>
          <p:nvSpPr>
            <p:cNvPr id="329" name="Google Shape;329;p22"/>
            <p:cNvSpPr/>
            <p:nvPr/>
          </p:nvSpPr>
          <p:spPr>
            <a:xfrm>
              <a:off x="4040561" y="3880991"/>
              <a:ext cx="99802" cy="28383"/>
            </a:xfrm>
            <a:custGeom>
              <a:avLst/>
              <a:gdLst/>
              <a:ahLst/>
              <a:cxnLst/>
              <a:rect l="l" t="t" r="r" b="b"/>
              <a:pathLst>
                <a:path w="3133" h="891" extrusionOk="0">
                  <a:moveTo>
                    <a:pt x="1572" y="1"/>
                  </a:moveTo>
                  <a:cubicBezTo>
                    <a:pt x="1001" y="1"/>
                    <a:pt x="465" y="227"/>
                    <a:pt x="60" y="632"/>
                  </a:cubicBezTo>
                  <a:cubicBezTo>
                    <a:pt x="1" y="691"/>
                    <a:pt x="1" y="787"/>
                    <a:pt x="60" y="846"/>
                  </a:cubicBezTo>
                  <a:cubicBezTo>
                    <a:pt x="84" y="876"/>
                    <a:pt x="123" y="891"/>
                    <a:pt x="165" y="891"/>
                  </a:cubicBezTo>
                  <a:cubicBezTo>
                    <a:pt x="206" y="891"/>
                    <a:pt x="251" y="876"/>
                    <a:pt x="287" y="846"/>
                  </a:cubicBezTo>
                  <a:cubicBezTo>
                    <a:pt x="632" y="513"/>
                    <a:pt x="1072" y="310"/>
                    <a:pt x="1572" y="310"/>
                  </a:cubicBezTo>
                  <a:cubicBezTo>
                    <a:pt x="2061" y="310"/>
                    <a:pt x="2501" y="513"/>
                    <a:pt x="2846" y="846"/>
                  </a:cubicBezTo>
                  <a:cubicBezTo>
                    <a:pt x="2876" y="876"/>
                    <a:pt x="2918" y="891"/>
                    <a:pt x="2960" y="891"/>
                  </a:cubicBezTo>
                  <a:cubicBezTo>
                    <a:pt x="3001" y="891"/>
                    <a:pt x="3043" y="876"/>
                    <a:pt x="3073" y="846"/>
                  </a:cubicBezTo>
                  <a:cubicBezTo>
                    <a:pt x="3132" y="787"/>
                    <a:pt x="3132" y="691"/>
                    <a:pt x="3073" y="632"/>
                  </a:cubicBezTo>
                  <a:cubicBezTo>
                    <a:pt x="2668" y="227"/>
                    <a:pt x="2132" y="1"/>
                    <a:pt x="15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3950316" y="3820307"/>
              <a:ext cx="369805" cy="353782"/>
            </a:xfrm>
            <a:custGeom>
              <a:avLst/>
              <a:gdLst/>
              <a:ahLst/>
              <a:cxnLst/>
              <a:rect l="l" t="t" r="r" b="b"/>
              <a:pathLst>
                <a:path w="11609" h="11106" extrusionOk="0">
                  <a:moveTo>
                    <a:pt x="7358" y="6728"/>
                  </a:moveTo>
                  <a:lnTo>
                    <a:pt x="7799" y="7156"/>
                  </a:lnTo>
                  <a:lnTo>
                    <a:pt x="7513" y="7442"/>
                  </a:lnTo>
                  <a:lnTo>
                    <a:pt x="7084" y="7014"/>
                  </a:lnTo>
                  <a:cubicBezTo>
                    <a:pt x="7180" y="6918"/>
                    <a:pt x="7275" y="6835"/>
                    <a:pt x="7358" y="6728"/>
                  </a:cubicBezTo>
                  <a:close/>
                  <a:moveTo>
                    <a:pt x="4395" y="358"/>
                  </a:moveTo>
                  <a:cubicBezTo>
                    <a:pt x="5337" y="358"/>
                    <a:pt x="6281" y="715"/>
                    <a:pt x="7001" y="1429"/>
                  </a:cubicBezTo>
                  <a:cubicBezTo>
                    <a:pt x="8370" y="2799"/>
                    <a:pt x="8430" y="4942"/>
                    <a:pt x="7239" y="6382"/>
                  </a:cubicBezTo>
                  <a:cubicBezTo>
                    <a:pt x="7096" y="6561"/>
                    <a:pt x="6930" y="6728"/>
                    <a:pt x="6763" y="6859"/>
                  </a:cubicBezTo>
                  <a:cubicBezTo>
                    <a:pt x="6075" y="7434"/>
                    <a:pt x="5230" y="7723"/>
                    <a:pt x="4386" y="7723"/>
                  </a:cubicBezTo>
                  <a:cubicBezTo>
                    <a:pt x="3448" y="7723"/>
                    <a:pt x="2513" y="7365"/>
                    <a:pt x="1798" y="6644"/>
                  </a:cubicBezTo>
                  <a:cubicBezTo>
                    <a:pt x="357" y="5192"/>
                    <a:pt x="357" y="2870"/>
                    <a:pt x="1798" y="1429"/>
                  </a:cubicBezTo>
                  <a:cubicBezTo>
                    <a:pt x="2512" y="715"/>
                    <a:pt x="3453" y="358"/>
                    <a:pt x="4395" y="358"/>
                  </a:cubicBezTo>
                  <a:close/>
                  <a:moveTo>
                    <a:pt x="8226" y="7228"/>
                  </a:moveTo>
                  <a:cubicBezTo>
                    <a:pt x="8260" y="7228"/>
                    <a:pt x="8293" y="7240"/>
                    <a:pt x="8311" y="7264"/>
                  </a:cubicBezTo>
                  <a:lnTo>
                    <a:pt x="8763" y="7668"/>
                  </a:lnTo>
                  <a:lnTo>
                    <a:pt x="8001" y="8430"/>
                  </a:lnTo>
                  <a:lnTo>
                    <a:pt x="7620" y="7966"/>
                  </a:lnTo>
                  <a:cubicBezTo>
                    <a:pt x="7573" y="7918"/>
                    <a:pt x="7573" y="7835"/>
                    <a:pt x="7620" y="7787"/>
                  </a:cubicBezTo>
                  <a:lnTo>
                    <a:pt x="8132" y="7264"/>
                  </a:lnTo>
                  <a:cubicBezTo>
                    <a:pt x="8156" y="7240"/>
                    <a:pt x="8192" y="7228"/>
                    <a:pt x="8226" y="7228"/>
                  </a:cubicBezTo>
                  <a:close/>
                  <a:moveTo>
                    <a:pt x="9013" y="7871"/>
                  </a:moveTo>
                  <a:lnTo>
                    <a:pt x="10871" y="9514"/>
                  </a:lnTo>
                  <a:cubicBezTo>
                    <a:pt x="11192" y="9800"/>
                    <a:pt x="11204" y="10276"/>
                    <a:pt x="10906" y="10573"/>
                  </a:cubicBezTo>
                  <a:cubicBezTo>
                    <a:pt x="10765" y="10715"/>
                    <a:pt x="10580" y="10784"/>
                    <a:pt x="10396" y="10784"/>
                  </a:cubicBezTo>
                  <a:cubicBezTo>
                    <a:pt x="10193" y="10784"/>
                    <a:pt x="9990" y="10700"/>
                    <a:pt x="9847" y="10538"/>
                  </a:cubicBezTo>
                  <a:lnTo>
                    <a:pt x="8227" y="8668"/>
                  </a:lnTo>
                  <a:lnTo>
                    <a:pt x="9013" y="7871"/>
                  </a:lnTo>
                  <a:close/>
                  <a:moveTo>
                    <a:pt x="4423" y="1"/>
                  </a:moveTo>
                  <a:cubicBezTo>
                    <a:pt x="3396" y="1"/>
                    <a:pt x="2370" y="394"/>
                    <a:pt x="1584" y="1179"/>
                  </a:cubicBezTo>
                  <a:cubicBezTo>
                    <a:pt x="0" y="2775"/>
                    <a:pt x="0" y="5299"/>
                    <a:pt x="1560" y="6883"/>
                  </a:cubicBezTo>
                  <a:cubicBezTo>
                    <a:pt x="2340" y="7663"/>
                    <a:pt x="3364" y="8052"/>
                    <a:pt x="4389" y="8052"/>
                  </a:cubicBezTo>
                  <a:cubicBezTo>
                    <a:pt x="5257" y="8052"/>
                    <a:pt x="6126" y="7773"/>
                    <a:pt x="6846" y="7216"/>
                  </a:cubicBezTo>
                  <a:lnTo>
                    <a:pt x="7323" y="7692"/>
                  </a:lnTo>
                  <a:cubicBezTo>
                    <a:pt x="7239" y="7859"/>
                    <a:pt x="7263" y="8049"/>
                    <a:pt x="7394" y="8180"/>
                  </a:cubicBezTo>
                  <a:lnTo>
                    <a:pt x="9644" y="10752"/>
                  </a:lnTo>
                  <a:cubicBezTo>
                    <a:pt x="9847" y="10986"/>
                    <a:pt x="10133" y="11105"/>
                    <a:pt x="10421" y="11105"/>
                  </a:cubicBezTo>
                  <a:cubicBezTo>
                    <a:pt x="10690" y="11105"/>
                    <a:pt x="10961" y="11001"/>
                    <a:pt x="11168" y="10788"/>
                  </a:cubicBezTo>
                  <a:cubicBezTo>
                    <a:pt x="11609" y="10359"/>
                    <a:pt x="11573" y="9657"/>
                    <a:pt x="11133" y="9264"/>
                  </a:cubicBezTo>
                  <a:lnTo>
                    <a:pt x="8573" y="7014"/>
                  </a:lnTo>
                  <a:cubicBezTo>
                    <a:pt x="8483" y="6939"/>
                    <a:pt x="8369" y="6897"/>
                    <a:pt x="8259" y="6897"/>
                  </a:cubicBezTo>
                  <a:cubicBezTo>
                    <a:pt x="8194" y="6897"/>
                    <a:pt x="8130" y="6911"/>
                    <a:pt x="8073" y="6942"/>
                  </a:cubicBezTo>
                  <a:lnTo>
                    <a:pt x="7596" y="6454"/>
                  </a:lnTo>
                  <a:cubicBezTo>
                    <a:pt x="8811" y="4894"/>
                    <a:pt x="8704" y="2632"/>
                    <a:pt x="7263" y="1179"/>
                  </a:cubicBezTo>
                  <a:cubicBezTo>
                    <a:pt x="6477" y="394"/>
                    <a:pt x="5450" y="1"/>
                    <a:pt x="4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4098219" y="3850602"/>
              <a:ext cx="101299" cy="195781"/>
            </a:xfrm>
            <a:custGeom>
              <a:avLst/>
              <a:gdLst/>
              <a:ahLst/>
              <a:cxnLst/>
              <a:rect l="l" t="t" r="r" b="b"/>
              <a:pathLst>
                <a:path w="3180" h="6146" extrusionOk="0">
                  <a:moveTo>
                    <a:pt x="194" y="1"/>
                  </a:moveTo>
                  <a:cubicBezTo>
                    <a:pt x="120" y="1"/>
                    <a:pt x="58" y="57"/>
                    <a:pt x="36" y="133"/>
                  </a:cubicBezTo>
                  <a:cubicBezTo>
                    <a:pt x="24" y="228"/>
                    <a:pt x="84" y="300"/>
                    <a:pt x="179" y="312"/>
                  </a:cubicBezTo>
                  <a:cubicBezTo>
                    <a:pt x="775" y="407"/>
                    <a:pt x="1322" y="669"/>
                    <a:pt x="1739" y="1110"/>
                  </a:cubicBezTo>
                  <a:cubicBezTo>
                    <a:pt x="2822" y="2193"/>
                    <a:pt x="2822" y="3967"/>
                    <a:pt x="1739" y="5050"/>
                  </a:cubicBezTo>
                  <a:cubicBezTo>
                    <a:pt x="1286" y="5479"/>
                    <a:pt x="739" y="5765"/>
                    <a:pt x="143" y="5836"/>
                  </a:cubicBezTo>
                  <a:cubicBezTo>
                    <a:pt x="60" y="5848"/>
                    <a:pt x="1" y="5932"/>
                    <a:pt x="13" y="6015"/>
                  </a:cubicBezTo>
                  <a:cubicBezTo>
                    <a:pt x="24" y="6086"/>
                    <a:pt x="84" y="6146"/>
                    <a:pt x="179" y="6146"/>
                  </a:cubicBezTo>
                  <a:lnTo>
                    <a:pt x="203" y="6146"/>
                  </a:lnTo>
                  <a:cubicBezTo>
                    <a:pt x="870" y="6063"/>
                    <a:pt x="1489" y="5753"/>
                    <a:pt x="1977" y="5277"/>
                  </a:cubicBezTo>
                  <a:cubicBezTo>
                    <a:pt x="3180" y="4062"/>
                    <a:pt x="3180" y="2086"/>
                    <a:pt x="1977" y="883"/>
                  </a:cubicBezTo>
                  <a:cubicBezTo>
                    <a:pt x="1501" y="407"/>
                    <a:pt x="894" y="97"/>
                    <a:pt x="215" y="2"/>
                  </a:cubicBezTo>
                  <a:cubicBezTo>
                    <a:pt x="208" y="1"/>
                    <a:pt x="201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3981789" y="3849136"/>
              <a:ext cx="103178" cy="198011"/>
            </a:xfrm>
            <a:custGeom>
              <a:avLst/>
              <a:gdLst/>
              <a:ahLst/>
              <a:cxnLst/>
              <a:rect l="l" t="t" r="r" b="b"/>
              <a:pathLst>
                <a:path w="3239" h="6216" extrusionOk="0">
                  <a:moveTo>
                    <a:pt x="3036" y="1"/>
                  </a:moveTo>
                  <a:cubicBezTo>
                    <a:pt x="2346" y="120"/>
                    <a:pt x="1703" y="441"/>
                    <a:pt x="1215" y="929"/>
                  </a:cubicBezTo>
                  <a:cubicBezTo>
                    <a:pt x="0" y="2132"/>
                    <a:pt x="0" y="4108"/>
                    <a:pt x="1215" y="5323"/>
                  </a:cubicBezTo>
                  <a:cubicBezTo>
                    <a:pt x="1715" y="5823"/>
                    <a:pt x="2346" y="6120"/>
                    <a:pt x="3036" y="6216"/>
                  </a:cubicBezTo>
                  <a:lnTo>
                    <a:pt x="3060" y="6216"/>
                  </a:lnTo>
                  <a:cubicBezTo>
                    <a:pt x="3132" y="6216"/>
                    <a:pt x="3203" y="6156"/>
                    <a:pt x="3215" y="6061"/>
                  </a:cubicBezTo>
                  <a:cubicBezTo>
                    <a:pt x="3239" y="5978"/>
                    <a:pt x="3156" y="5894"/>
                    <a:pt x="3072" y="5882"/>
                  </a:cubicBezTo>
                  <a:cubicBezTo>
                    <a:pt x="2441" y="5811"/>
                    <a:pt x="1882" y="5537"/>
                    <a:pt x="1429" y="5085"/>
                  </a:cubicBezTo>
                  <a:cubicBezTo>
                    <a:pt x="346" y="3989"/>
                    <a:pt x="346" y="2215"/>
                    <a:pt x="1429" y="1132"/>
                  </a:cubicBezTo>
                  <a:cubicBezTo>
                    <a:pt x="1882" y="691"/>
                    <a:pt x="2441" y="405"/>
                    <a:pt x="3072" y="334"/>
                  </a:cubicBezTo>
                  <a:cubicBezTo>
                    <a:pt x="3156" y="322"/>
                    <a:pt x="3215" y="239"/>
                    <a:pt x="3215" y="155"/>
                  </a:cubicBezTo>
                  <a:cubicBezTo>
                    <a:pt x="3203" y="60"/>
                    <a:pt x="3132" y="1"/>
                    <a:pt x="3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4" name="Google Shape;334;p22"/>
          <p:cNvSpPr/>
          <p:nvPr/>
        </p:nvSpPr>
        <p:spPr>
          <a:xfrm>
            <a:off x="3438638" y="2769995"/>
            <a:ext cx="172158" cy="140316"/>
          </a:xfrm>
          <a:custGeom>
            <a:avLst/>
            <a:gdLst/>
            <a:ahLst/>
            <a:cxnLst/>
            <a:rect l="l" t="t" r="r" b="b"/>
            <a:pathLst>
              <a:path w="11943" h="9734" extrusionOk="0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22"/>
          <p:cNvGrpSpPr/>
          <p:nvPr/>
        </p:nvGrpSpPr>
        <p:grpSpPr>
          <a:xfrm>
            <a:off x="5988346" y="3763372"/>
            <a:ext cx="140763" cy="140306"/>
            <a:chOff x="852385" y="1510916"/>
            <a:chExt cx="353145" cy="351998"/>
          </a:xfrm>
        </p:grpSpPr>
        <p:sp>
          <p:nvSpPr>
            <p:cNvPr id="337" name="Google Shape;337;p22"/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D97D992-F35D-6FD1-0288-1C8DBC3A5822}"/>
              </a:ext>
            </a:extLst>
          </p:cNvPr>
          <p:cNvSpPr txBox="1"/>
          <p:nvPr/>
        </p:nvSpPr>
        <p:spPr>
          <a:xfrm>
            <a:off x="4092378" y="1063899"/>
            <a:ext cx="4704150" cy="2999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 b="1">
                <a:solidFill>
                  <a:schemeClr val="tx2"/>
                </a:solidFill>
              </a:rPr>
              <a:t>Student App</a:t>
            </a:r>
            <a:endParaRPr lang="en-SA">
              <a:solidFill>
                <a:schemeClr val="tx2"/>
              </a:solidFill>
            </a:endParaRPr>
          </a:p>
          <a:p>
            <a:r>
              <a:rPr lang="en-SA">
                <a:solidFill>
                  <a:schemeClr val="tx2"/>
                </a:solidFill>
              </a:rPr>
              <a:t>User enters a message in the chat interface</a:t>
            </a:r>
          </a:p>
          <a:p>
            <a:r>
              <a:rPr lang="en-SA">
                <a:solidFill>
                  <a:schemeClr val="tx2"/>
                </a:solidFill>
              </a:rPr>
              <a:t>EduGuard checks safety label in real time</a:t>
            </a:r>
          </a:p>
          <a:p>
            <a:r>
              <a:rPr lang="en-SA">
                <a:solidFill>
                  <a:schemeClr val="tx2"/>
                </a:solidFill>
              </a:rPr>
              <a:t>Response source is clearly displayed to the user</a:t>
            </a:r>
          </a:p>
          <a:p>
            <a:endParaRPr lang="en-SA">
              <a:solidFill>
                <a:schemeClr val="tx2"/>
              </a:solidFill>
            </a:endParaRPr>
          </a:p>
          <a:p>
            <a:endParaRPr lang="en-SA">
              <a:solidFill>
                <a:schemeClr val="tx2"/>
              </a:solidFill>
            </a:endParaRPr>
          </a:p>
          <a:p>
            <a:endParaRPr lang="en-SA">
              <a:solidFill>
                <a:schemeClr val="tx2"/>
              </a:solidFill>
            </a:endParaRPr>
          </a:p>
          <a:p>
            <a:r>
              <a:rPr lang="en-SA" b="1">
                <a:solidFill>
                  <a:schemeClr val="tx2"/>
                </a:solidFill>
              </a:rPr>
              <a:t>Admin Dashboard</a:t>
            </a:r>
            <a:endParaRPr lang="en-SA">
              <a:solidFill>
                <a:schemeClr val="tx2"/>
              </a:solidFill>
            </a:endParaRPr>
          </a:p>
          <a:p>
            <a:r>
              <a:rPr lang="en-SA">
                <a:solidFill>
                  <a:schemeClr val="tx2"/>
                </a:solidFill>
              </a:rPr>
              <a:t>High-risk alerts surfaced immediately</a:t>
            </a:r>
          </a:p>
          <a:p>
            <a:r>
              <a:rPr lang="en-SA">
                <a:solidFill>
                  <a:schemeClr val="tx2"/>
                </a:solidFill>
              </a:rPr>
              <a:t>Severity levels for each flagged message</a:t>
            </a:r>
          </a:p>
          <a:p>
            <a:r>
              <a:rPr lang="en-SA">
                <a:solidFill>
                  <a:schemeClr val="tx2"/>
                </a:solidFill>
              </a:rPr>
              <a:t>Review tracking and case management</a:t>
            </a:r>
          </a:p>
          <a:p>
            <a:r>
              <a:rPr lang="en-SA">
                <a:solidFill>
                  <a:schemeClr val="tx2"/>
                </a:solidFill>
              </a:rPr>
              <a:t>Full safety logs for audit and analysis</a:t>
            </a:r>
          </a:p>
          <a:p>
            <a:endParaRPr lang="en-SA">
              <a:solidFill>
                <a:schemeClr val="tx2"/>
              </a:solidFill>
            </a:endParaRPr>
          </a:p>
        </p:txBody>
      </p:sp>
      <p:pic>
        <p:nvPicPr>
          <p:cNvPr id="4" name="Graphic 3" descr="Smart Phone outline">
            <a:extLst>
              <a:ext uri="{FF2B5EF4-FFF2-40B4-BE49-F238E27FC236}">
                <a16:creationId xmlns:a16="http://schemas.microsoft.com/office/drawing/2014/main" id="{3D1969BD-1832-86D7-15E4-C356586A7F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787" y="1186425"/>
            <a:ext cx="3027970" cy="30279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I Tech Agency Infographics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</TotalTime>
  <Words>443</Words>
  <Application>Microsoft Macintosh PowerPoint</Application>
  <PresentationFormat>On-screen Show (16:9)</PresentationFormat>
  <Paragraphs>132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Fira Sans Condensed Light</vt:lpstr>
      <vt:lpstr>Roboto Condensed Light</vt:lpstr>
      <vt:lpstr>Rajdhani</vt:lpstr>
      <vt:lpstr>Anaheim</vt:lpstr>
      <vt:lpstr>Fira Sans Condensed</vt:lpstr>
      <vt:lpstr>Helvetica</vt:lpstr>
      <vt:lpstr>Wingdings</vt:lpstr>
      <vt:lpstr>Arial</vt:lpstr>
      <vt:lpstr>AI Tech Agency Infographics by Slidesgo</vt:lpstr>
      <vt:lpstr> EduGuard </vt:lpstr>
      <vt:lpstr>Presentation Agenda </vt:lpstr>
      <vt:lpstr>Problem &amp; Goal</vt:lpstr>
      <vt:lpstr>Safety Taxonomy</vt:lpstr>
      <vt:lpstr>Data Strategy</vt:lpstr>
      <vt:lpstr>System Architecture</vt:lpstr>
      <vt:lpstr>Evaluation Results</vt:lpstr>
      <vt:lpstr>Cost &amp; Ethics</vt:lpstr>
      <vt:lpstr>Future Work</vt:lpstr>
      <vt:lpstr>Implementation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بدور الحربيF16 .</cp:lastModifiedBy>
  <cp:revision>4</cp:revision>
  <dcterms:modified xsi:type="dcterms:W3CDTF">2026-06-23T15:00:30Z</dcterms:modified>
</cp:coreProperties>
</file>